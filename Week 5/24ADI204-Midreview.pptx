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9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bold r:id="rId20"/>
    </p:embeddedFont>
    <p:embeddedFont>
      <p:font typeface="Poppins Bold Italics" panose="020B0604020202020204" charset="0"/>
      <p:boldItalic r:id="rId21"/>
    </p:embeddedFont>
    <p:embeddedFont>
      <p:font typeface="Poppins Italics" panose="020B0604020202020204" charset="0"/>
      <p:italic r:id="rId22"/>
    </p:embeddedFont>
    <p:embeddedFont>
      <p:font typeface="Times New Roman Bold" panose="02020803070505020304" pitchFamily="18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190500"/>
            <a:ext cx="1299889" cy="1278575"/>
          </a:xfrm>
          <a:custGeom>
            <a:avLst/>
            <a:gdLst/>
            <a:ahLst/>
            <a:cxnLst/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0" t="-4622" r="-22184" b="-29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37790" y="190500"/>
            <a:ext cx="2519089" cy="945897"/>
          </a:xfrm>
          <a:custGeom>
            <a:avLst/>
            <a:gdLst/>
            <a:ahLst/>
            <a:cxnLst/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231061" y="534627"/>
            <a:ext cx="11180668" cy="25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5"/>
              </a:lnSpc>
            </a:pPr>
            <a:r>
              <a:rPr lang="en-US" sz="42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Artificial Intelligence and Data Science</a:t>
            </a:r>
          </a:p>
          <a:p>
            <a:pPr algn="ctr">
              <a:lnSpc>
                <a:spcPts val="6435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Science and Visualization</a:t>
            </a:r>
          </a:p>
          <a:p>
            <a:pPr algn="ctr">
              <a:lnSpc>
                <a:spcPts val="6435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24ADI204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9804" y="3862505"/>
            <a:ext cx="10410901" cy="126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356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 Italics" panose="00000800000000000000"/>
                <a:cs typeface="Times New Roman" panose="02020603050405020304" pitchFamily="18" charset="0"/>
                <a:sym typeface="Poppins Bold Italics" panose="00000800000000000000"/>
              </a:rPr>
              <a:t>DATA-VIZ HACK-A-BIT (2026-2027) </a:t>
            </a:r>
          </a:p>
          <a:p>
            <a:pPr algn="ctr">
              <a:lnSpc>
                <a:spcPts val="4985"/>
              </a:lnSpc>
              <a:spcBef>
                <a:spcPct val="0"/>
              </a:spcBef>
            </a:pPr>
            <a:endParaRPr lang="en-US" sz="3560" b="1" i="1" dirty="0">
              <a:solidFill>
                <a:srgbClr val="000000"/>
              </a:solidFill>
              <a:latin typeface="Poppins Bold Italics" panose="00000800000000000000"/>
              <a:ea typeface="Poppins Bold Italics" panose="00000800000000000000"/>
              <a:cs typeface="Poppins Bold Italics" panose="00000800000000000000"/>
              <a:sym typeface="Poppins Bold Italics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08777" y="6007337"/>
            <a:ext cx="4887823" cy="620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5"/>
              </a:lnSpc>
              <a:spcBef>
                <a:spcPct val="0"/>
              </a:spcBef>
            </a:pPr>
            <a:r>
              <a:rPr lang="en-US" sz="3620" dirty="0">
                <a:solidFill>
                  <a:srgbClr val="000000"/>
                </a:solidFill>
                <a:latin typeface="Times New Roman" panose="02020603050405020304" pitchFamily="18" charset="0"/>
                <a:ea typeface="Poppins" panose="00000500000000000000"/>
                <a:cs typeface="Times New Roman" panose="02020603050405020304" pitchFamily="18" charset="0"/>
                <a:sym typeface="Poppins" panose="00000500000000000000"/>
              </a:rPr>
              <a:t>Team Number: 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800" y="4905918"/>
            <a:ext cx="63246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 panose="00000800000000000000"/>
                <a:cs typeface="Times New Roman" panose="02020603050405020304" pitchFamily="18" charset="0"/>
                <a:sym typeface="Poppins Bold" panose="00000800000000000000"/>
              </a:rPr>
              <a:t>MID REVIEW (September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1061" y="6850000"/>
            <a:ext cx="11180668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35"/>
              </a:lnSpc>
              <a:buNone/>
            </a:pPr>
            <a:r>
              <a:rPr sz="3000" b="1" i="1">
                <a:solidFill>
                  <a:srgbClr val="112D63"/>
                </a:solidFill>
                <a:latin typeface="Times New Roman" panose="02020603050405020304"/>
              </a:rPr>
              <a:t>"The Heat Is On: A Visual Timeline of Global Warming"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000" y="7750000"/>
            <a:ext cx="547454" cy="500000"/>
          </a:xfrm>
          <a:prstGeom prst="rect">
            <a:avLst/>
          </a:prstGeom>
          <a:solidFill>
            <a:srgbClr val="083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89454" y="7750000"/>
            <a:ext cx="547454" cy="5000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34908" y="7750000"/>
            <a:ext cx="547454" cy="500000"/>
          </a:xfrm>
          <a:prstGeom prst="rect">
            <a:avLst/>
          </a:prstGeom>
          <a:solidFill>
            <a:srgbClr val="439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80362" y="7750000"/>
            <a:ext cx="547454" cy="500000"/>
          </a:xfrm>
          <a:prstGeom prst="rect">
            <a:avLst/>
          </a:prstGeom>
          <a:solidFill>
            <a:srgbClr val="92C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5816" y="7750000"/>
            <a:ext cx="547454" cy="500000"/>
          </a:xfrm>
          <a:prstGeom prst="rect">
            <a:avLst/>
          </a:prstGeom>
          <a:solidFill>
            <a:srgbClr val="D1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71270" y="7750000"/>
            <a:ext cx="547454" cy="50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16724" y="7750000"/>
            <a:ext cx="547454" cy="500000"/>
          </a:xfrm>
          <a:prstGeom prst="rect">
            <a:avLst/>
          </a:prstGeom>
          <a:solidFill>
            <a:srgbClr val="FDD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62178" y="7750000"/>
            <a:ext cx="547454" cy="500000"/>
          </a:xfrm>
          <a:prstGeom prst="rect">
            <a:avLst/>
          </a:prstGeom>
          <a:solidFill>
            <a:srgbClr val="F4A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07632" y="7750000"/>
            <a:ext cx="547454" cy="500000"/>
          </a:xfrm>
          <a:prstGeom prst="rect">
            <a:avLst/>
          </a:prstGeom>
          <a:solidFill>
            <a:srgbClr val="D66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053086" y="7750000"/>
            <a:ext cx="547454" cy="50000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98540" y="7750000"/>
            <a:ext cx="547454" cy="500000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000" y="831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08080"/>
                </a:solidFill>
                <a:latin typeface="Calibri" panose="020F0502020204030204"/>
              </a:rPr>
              <a:t>Preview of the final “warming stripes” visualization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Problem Statement </a:t>
            </a:r>
          </a:p>
        </p:txBody>
      </p:sp>
      <p:sp>
        <p:nvSpPr>
          <p:cNvPr id="9" name="Oval 8"/>
          <p:cNvSpPr/>
          <p:nvPr/>
        </p:nvSpPr>
        <p:spPr>
          <a:xfrm>
            <a:off x="925233" y="4366971"/>
            <a:ext cx="1524862" cy="1524862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34625" y="4263003"/>
            <a:ext cx="1906078" cy="1732798"/>
          </a:xfrm>
          <a:custGeom>
            <a:avLst/>
            <a:gdLst/>
            <a:ahLst/>
            <a:cxnLst/>
            <a:rect l="l" t="t" r="r" b="b"/>
            <a:pathLst>
              <a:path w="1906078" h="1732798">
                <a:moveTo>
                  <a:pt x="0" y="0"/>
                </a:moveTo>
                <a:lnTo>
                  <a:pt x="1906078" y="0"/>
                </a:lnTo>
                <a:lnTo>
                  <a:pt x="1906078" y="1732798"/>
                </a:lnTo>
                <a:lnTo>
                  <a:pt x="0" y="1732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860631" y="4131254"/>
            <a:ext cx="15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35"/>
              </a:lnSpc>
              <a:spcAft>
                <a:spcPts val="1000"/>
              </a:spcAft>
            </a:pPr>
            <a:r>
              <a:rPr lang="en-US" sz="2600" b="1">
                <a:solidFill>
                  <a:srgbClr val="112D63"/>
                </a:solidFill>
                <a:latin typeface="Calibri" panose="020F0502020204030204"/>
              </a:rPr>
              <a:t>Why this project matters:</a:t>
            </a: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r>
              <a:rPr sz="2500" b="0" i="0">
                <a:solidFill>
                  <a:srgbClr val="3F3F3F"/>
                </a:solidFill>
                <a:latin typeface="Calibri" panose="020F0502020204030204"/>
              </a:rPr>
              <a:t>Rising global temperatures are reshaping weather, sea levels and ecosystems, but the scale of this change is hard to grasp from raw numbers alone.</a:t>
            </a: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endParaRPr sz="2500" b="0" i="0">
              <a:solidFill>
                <a:srgbClr val="3F3F3F"/>
              </a:solidFill>
              <a:latin typeface="Calibri" panose="020F0502020204030204"/>
            </a:endParaRP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r>
              <a:rPr sz="2500" b="0" i="0">
                <a:solidFill>
                  <a:srgbClr val="3F3F3F"/>
                </a:solidFill>
                <a:latin typeface="Calibri" panose="020F0502020204030204"/>
              </a:rPr>
              <a:t>This project uses 124 years of country-level climate data (1900-2023) to show, in a clear visual way, how much the planet has actually warmed and where that warming is happening fastest.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0631" y="8000000"/>
            <a:ext cx="4333333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1900–2023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Years of climate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43964" y="8000000"/>
            <a:ext cx="4333333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195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Countries covered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27297" y="8000000"/>
            <a:ext cx="4333333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100,000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Records analyzed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Project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60631" y="4607276"/>
            <a:ext cx="15400000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explore historical temperature anomaly data from 1900 to 2023 across 195 countries.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identify long-term warming trends and patterns across different regions and decades.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clean the dataset thoroughly, handling missing values and outliers so the analysis stays reliable.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 aim to build a clear, animated "warming stripes" visualization that communicates climate change simply.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  <a:p>
            <a:pPr marL="652780" lvl="1" indent="-326390" algn="l">
              <a:lnSpc>
                <a:spcPts val="4235"/>
              </a:lnSpc>
              <a:spcBef>
                <a:spcPct val="0"/>
              </a:spcBef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500" b="0" i="0">
                <a:solidFill>
                  <a:srgbClr val="3F3F3F"/>
                </a:solidFill>
                <a:latin typeface="Calibri" panose="020F0502020204030204"/>
              </a:rPr>
              <a:t>We document our process clearly each week so our GitHub repo tells the full story of the project.</a:t>
            </a:r>
            <a:endParaRPr lang="en-US" sz="3000" dirty="0">
              <a:solidFill>
                <a:srgbClr val="545454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901573" y="4198124"/>
            <a:ext cx="1462556" cy="1462556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18753" y="4015304"/>
            <a:ext cx="1828196" cy="1828196"/>
          </a:xfrm>
          <a:custGeom>
            <a:avLst/>
            <a:gdLst/>
            <a:ahLst/>
            <a:cxnLst/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Scope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0631" y="4000000"/>
            <a:ext cx="15200000" cy="3500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ts val="4235"/>
              </a:lnSpc>
              <a:spcAft>
                <a:spcPts val="1000"/>
              </a:spcAft>
            </a:pPr>
            <a:r>
              <a:rPr lang="en-US" sz="2600" b="1">
                <a:solidFill>
                  <a:srgbClr val="112D63"/>
                </a:solidFill>
                <a:latin typeface="Calibri" panose="020F0502020204030204"/>
              </a:rPr>
              <a:t>What's in scope, and what isn't:</a:t>
            </a:r>
          </a:p>
          <a:p>
            <a:pPr>
              <a:spcAft>
                <a:spcPts val="1000"/>
              </a:spcAft>
            </a:pPr>
            <a:r>
              <a:rPr lang="en-US" sz="2300" b="0" i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project covers the Global Warming dataset (1900-2023): 100,000 records across 195 countries and 26 indicators, including temperature anomaly, CO2 emissions, population, forest area and renewable energy usage.</a:t>
            </a:r>
            <a:endParaRPr lang="en-US" sz="3000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lang="en-US" sz="2300" b="0" i="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scope includes data cleaning, exploratory data analysis, and visualization, specifically building an animated heatmap of temperature anomalies over time. It does not include predictive modeling; the focus is on understanding and visually communicating what has already happened to the climate over the last century.</a:t>
            </a:r>
            <a:endParaRPr lang="en-US" sz="3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60631" y="6900000"/>
            <a:ext cx="4333333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100,000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43964" y="6900000"/>
            <a:ext cx="4333333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195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Countries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27297" y="6900000"/>
            <a:ext cx="4333333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26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Indicators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Dataset 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6709" y="3231254"/>
            <a:ext cx="15200000" cy="374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+mn-lt"/>
                <a:cs typeface="Poppins Italics" panose="00000500000000000000"/>
              </a:rPr>
              <a:t>Here are the key details of our dataset:</a:t>
            </a:r>
            <a:endParaRPr lang="en-US"/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  <a:sym typeface="Poppins Italics" panose="00000500000000000000"/>
              </a:rPr>
              <a:t>The dataset comes from a structured CSV file provided for the course, called Global_Warming_Dataset.csv.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Calibri" panose="020F0502020204030204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  <a:sym typeface="Poppins Italics" panose="00000500000000000000"/>
              </a:rPr>
              <a:t>The variable we study most closely throughout the project is Temperature_Anomaly.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+mn-lt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200" b="0" i="0">
                <a:solidFill>
                  <a:srgbClr val="3F3F3F"/>
                </a:solidFill>
                <a:latin typeface="Calibri" panose="020F0502020204030204"/>
              </a:rPr>
              <a:t>The data is structured and almost entirely numeric, with Country as the only categorical field.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+mn-lt"/>
              <a:cs typeface="Poppins Italics" panose="00000500000000000000"/>
            </a:endParaRP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45662" y="3482682"/>
            <a:ext cx="1249424" cy="124942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89484" y="3326504"/>
            <a:ext cx="1561780" cy="1561780"/>
          </a:xfrm>
          <a:custGeom>
            <a:avLst/>
            <a:gdLst/>
            <a:ahLst/>
            <a:cxnLst/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24067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100,000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92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195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317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26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94209" y="6750000"/>
            <a:ext cx="3612500" cy="15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1900–2023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Years covered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Methodology(Process / Workflow)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6709" y="3231254"/>
            <a:ext cx="15200000" cy="3205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+mn-lt"/>
                <a:cs typeface="Poppins Italics" panose="00000500000000000000"/>
              </a:rPr>
              <a:t>Here is our workflow so far, covering Weeks 1 through 4:</a:t>
            </a:r>
            <a:endParaRPr lang="en-US"/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  <a:sym typeface="Poppins Italics" panose="00000500000000000000"/>
              </a:rPr>
              <a:t>In Week 1, we selected the Global Warming dataset and set up our GitHub repository.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+mn-lt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</a:rPr>
              <a:t>In Week 2, we explored the raw dataset's structure, checked column types, and put together a "first impression" report.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</a:rPr>
              <a:t>In Week 3, we cleaned the data with median imputation on six columns, removed duplicate rows, and removed outliers flagged by both the IQR and Z-score methods.</a:t>
            </a:r>
            <a:endParaRPr lang="en-US" sz="3000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200" b="0" i="0">
                <a:solidFill>
                  <a:srgbClr val="3F3F3F"/>
                </a:solidFill>
                <a:latin typeface="Calibri" panose="020F0502020204030204"/>
                <a:ea typeface="+mn-lt"/>
                <a:cs typeface="Poppins Italics" panose="00000500000000000000"/>
              </a:rPr>
              <a:t>In Week 4, we explored the data through univariate and bivariate analysis, a correlation heatmap, and several trend charts.</a:t>
            </a: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</a:endParaRPr>
          </a:p>
          <a:p>
            <a:pPr marL="652780" lvl="1" indent="-326390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200" i="1">
                <a:solidFill>
                  <a:srgbClr val="6B6B6B"/>
                </a:solidFill>
                <a:latin typeface="Calibri" panose="020F0502020204030204"/>
              </a:rPr>
              <a:t>Weeks 5 and 6 are still ahead: feature engineering and building the final animated heatmap.</a:t>
            </a: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</a:endParaRP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546480" y="3288032"/>
            <a:ext cx="1653537" cy="1653537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339787" y="3086100"/>
            <a:ext cx="2066922" cy="2057400"/>
          </a:xfrm>
          <a:custGeom>
            <a:avLst/>
            <a:gdLst/>
            <a:ahLst/>
            <a:cxnLst/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406709" y="7750000"/>
            <a:ext cx="15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12D63"/>
                </a:solidFill>
                <a:latin typeface="Calibri" panose="020F0502020204030204"/>
              </a:rPr>
              <a:t>Dataset structure we confirmed in Week 2 (used to guide Week 3 cleaning):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406709" y="8250000"/>
          <a:ext cx="9200000" cy="17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Column</a:t>
                      </a:r>
                    </a:p>
                  </a:txBody>
                  <a:tcPr marL="70000" marR="70000" marT="40000" marB="40000" anchor="ctr"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Type</a:t>
                      </a:r>
                    </a:p>
                  </a:txBody>
                  <a:tcPr marL="70000" marR="70000" marT="40000" marB="40000" anchor="ctr"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Example value</a:t>
                      </a:r>
                    </a:p>
                  </a:txBody>
                  <a:tcPr marL="70000" marR="70000" marT="40000" marB="40000" anchor="ctr"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Notes</a:t>
                      </a:r>
                    </a:p>
                  </a:txBody>
                  <a:tcPr marL="70000" marR="70000" marT="40000" marB="40000" anchor="ctr">
                    <a:solidFill>
                      <a:srgbClr val="112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Country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Text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Country_103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195 unique values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Year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Integer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1913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Range: 1900-2023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Temperature_Anomaly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Decimal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-1.16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Primary variable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CO2_Emissions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Decimal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887,606,100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3F3F"/>
                          </a:solidFill>
                          <a:latin typeface="Calibri" panose="020F0502020204030204"/>
                        </a:rPr>
                        <a:t>Outlier column, cleaned via Z-score</a:t>
                      </a:r>
                    </a:p>
                  </a:txBody>
                  <a:tcPr marL="70000" marR="70000" marT="40000" marB="40000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1900000" y="8250000"/>
            <a:ext cx="5700000" cy="1430000"/>
          </a:xfrm>
          <a:prstGeom prst="roundRect">
            <a:avLst>
              <a:gd name="adj" fmla="val 6000"/>
            </a:avLst>
          </a:prstGeom>
          <a:solidFill>
            <a:srgbClr val="FCE7DC"/>
          </a:solidFill>
          <a:ln w="12700">
            <a:solidFill>
              <a:srgbClr val="E86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50000" rIns="18000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2D63"/>
                </a:solidFill>
                <a:latin typeface="Calibri" panose="020F0502020204030204"/>
              </a:rPr>
              <a:t>Outlier check example (IQR method)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F3F3F"/>
                </a:solidFill>
                <a:latin typeface="Calibri" panose="020F0502020204030204"/>
              </a:rPr>
              <a:t>Column: CO2_Emissions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F3F3F"/>
                </a:solidFill>
                <a:latin typeface="Calibri" panose="020F0502020204030204"/>
              </a:rPr>
              <a:t>Q1 = 250.4M   Q3 = 750.6M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F3F3F"/>
                </a:solidFill>
                <a:latin typeface="Calibri" panose="020F0502020204030204"/>
              </a:rPr>
              <a:t>IQR = Q3 - Q1 = 500.2M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F3F3F"/>
                </a:solidFill>
                <a:latin typeface="Calibri" panose="020F0502020204030204"/>
              </a:rPr>
              <a:t>Upper bound = Q3 + 1.5 x IQR ≈ 1,501M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8622C"/>
                </a:solidFill>
                <a:latin typeface="Calibri" panose="020F0502020204030204"/>
              </a:rPr>
              <a:t>150 values (0.15%) exceeded this bound and were removed as outliers.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022149" y="3355777"/>
            <a:ext cx="15200000" cy="161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Cleaning results from Week 3: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7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 filled missing values in six columns using median imputation, removed duplicate rows, and validated the Year (1900-2023) and Country (195 unique) fields. We also detected outliers using both the IQR and Z-score methods and removed rows with a Z-score above 3, cutting outliers from 949 to 59. This resulted in a fully clean dataset, Global_Warming_Fully_Cleaned.csv, with zero missing values, zero duplicates and no extreme outliers.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40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8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Results From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2149" y="2655777"/>
            <a:ext cx="15430000" cy="375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endParaRPr/>
          </a:p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Results from Week 4's exploratory data analysis: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 reviewed the mean, median and spread of temperature anomaly and other indicators through summary statistics.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 looked at the distribution of Temperature_Anomaly using histograms, KDE plots, boxplots and violin plots.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We checked correlations with a heatmap and a CO2-vs-temperature scatter and regression plot.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1">
                <a:solidFill>
                  <a:srgbClr val="6B6B6B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Our key insight: some countries and recent decades show clearly higher average anomalies than others.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15242" y="3349395"/>
            <a:ext cx="1849984" cy="1849984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Results From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Data Quality &amp; EDA Dashboard (Weeks 1–4)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" y="2900000"/>
            <a:ext cx="15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2D63"/>
                </a:solidFill>
                <a:latin typeface="Calibri" panose="020F0502020204030204"/>
              </a:rPr>
              <a:t>A quick snapshot of the dataset we cleaned and explored in Weeks 1–4:</a:t>
            </a:r>
          </a:p>
        </p:txBody>
      </p:sp>
      <p:pic>
        <p:nvPicPr>
          <p:cNvPr id="11" name="Picture 10" descr="dashbo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145" y="3600000"/>
            <a:ext cx="8465709" cy="57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82412" y="4208059"/>
            <a:ext cx="1761061" cy="1761061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62279" y="4124008"/>
            <a:ext cx="2201327" cy="1929163"/>
          </a:xfrm>
          <a:custGeom>
            <a:avLst/>
            <a:gdLst/>
            <a:ahLst/>
            <a:cxnLst/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703883" y="3698259"/>
            <a:ext cx="15200000" cy="268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5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Our plan for Weeks 5 and 6, and what we expect by the end: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Feature engineering: we will group the data by decade and region to prepare it for the final visualization.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Final data quality: zero missing values, zero duplicates, no extreme outliers, and every field validated, exactly as achieved in Week 3.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1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Final deliverable: an animated "warming stripes" heatmap that clearly communicates long-term temperature change across countries and decades.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Expected Final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Oval 7"/>
          <p:cNvSpPr/>
          <p:nvPr/>
        </p:nvSpPr>
        <p:spPr>
          <a:xfrm>
            <a:off x="543373" y="3359440"/>
            <a:ext cx="1916458" cy="1916458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03816" y="3187394"/>
            <a:ext cx="2395573" cy="2260550"/>
          </a:xfrm>
          <a:custGeom>
            <a:avLst/>
            <a:gdLst/>
            <a:ahLst/>
            <a:cxnLst/>
            <a:rect l="l" t="t" r="r" b="b"/>
            <a:pathLst>
              <a:path w="2395573" h="2260550">
                <a:moveTo>
                  <a:pt x="0" y="0"/>
                </a:moveTo>
                <a:lnTo>
                  <a:pt x="2395573" y="0"/>
                </a:lnTo>
                <a:lnTo>
                  <a:pt x="2395573" y="2260550"/>
                </a:lnTo>
                <a:lnTo>
                  <a:pt x="0" y="2260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415445"/>
              </p:ext>
            </p:extLst>
          </p:nvPr>
        </p:nvGraphicFramePr>
        <p:xfrm>
          <a:off x="3352800" y="3467100"/>
          <a:ext cx="12730385" cy="5358015"/>
        </p:xfrm>
        <a:graphic>
          <a:graphicData uri="http://schemas.openxmlformats.org/drawingml/2006/table">
            <a:tbl>
              <a:tblPr/>
              <a:tblGrid>
                <a:gridCol w="650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2412">
                <a:tc>
                  <a:txBody>
                    <a:bodyPr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Team Member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4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Roles &amp; Responsibilities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453">
                <a:tc>
                  <a:txBody>
                    <a:bodyPr/>
                    <a:lstStyle/>
                    <a:p>
                      <a:r>
                        <a:rPr lang="en-US" dirty="0"/>
                        <a:t>V Jayavanadhi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Analyst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938">
                <a:tc>
                  <a:txBody>
                    <a:bodyPr/>
                    <a:lstStyle/>
                    <a:p>
                      <a:r>
                        <a:rPr lang="en-US" dirty="0"/>
                        <a:t>Gurupriya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Engineer 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272">
                <a:tc>
                  <a:txBody>
                    <a:bodyPr/>
                    <a:lstStyle/>
                    <a:p>
                      <a:r>
                        <a:rPr lang="en-US" dirty="0"/>
                        <a:t>Manoj SS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 Expert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6940">
                <a:tc>
                  <a:txBody>
                    <a:bodyPr/>
                    <a:lstStyle/>
                    <a:p>
                      <a:r>
                        <a:rPr lang="en-IN" dirty="0"/>
                        <a:t>Joyce Laetitia </a:t>
                      </a:r>
                      <a:r>
                        <a:rPr lang="en-IN" dirty="0" err="1"/>
                        <a:t>Malenou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Weudji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Storyteller</a:t>
                      </a:r>
                      <a:endParaRPr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Roles &amp; Responsibilities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8894" y="3308244"/>
            <a:ext cx="1799679" cy="1799679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33934" y="3093509"/>
            <a:ext cx="2249599" cy="2229148"/>
          </a:xfrm>
          <a:custGeom>
            <a:avLst/>
            <a:gdLst/>
            <a:ahLst/>
            <a:cxnLst/>
            <a:rect l="l" t="t" r="r" b="b"/>
            <a:pathLst>
              <a:path w="2249599" h="2229148">
                <a:moveTo>
                  <a:pt x="0" y="0"/>
                </a:moveTo>
                <a:lnTo>
                  <a:pt x="2249598" y="0"/>
                </a:lnTo>
                <a:lnTo>
                  <a:pt x="2249598" y="2229148"/>
                </a:lnTo>
                <a:lnTo>
                  <a:pt x="0" y="2229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703883" y="2998259"/>
            <a:ext cx="15200000" cy="3218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5"/>
              </a:lnSpc>
              <a:spcAft>
                <a:spcPts val="1000"/>
              </a:spcAft>
            </a:pPr>
            <a:r>
              <a:rPr lang="en-US" sz="2600" b="1" i="0">
                <a:solidFill>
                  <a:srgbClr val="112D63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Here are the challenges we ran into along the way: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3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Missing values appeared in six columns, so we had to impute them carefully without distorting the real climate trends.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3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Some countries and years had far more records than others, so we averaged our comparisons instead of relying on raw counts.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3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Several columns contained extreme outliers, so we used both the IQR and Z-score methods together to confirm which values were genuine extremes.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lang="en-US" sz="2000" b="0" i="0">
                <a:solidFill>
                  <a:srgbClr val="3F3F3F"/>
                </a:solidFill>
                <a:latin typeface="Calibri" panose="020F0502020204030204"/>
                <a:ea typeface="Poppins Italics" panose="00000500000000000000"/>
                <a:cs typeface="Poppins Italics" panose="00000500000000000000"/>
                <a:sym typeface="Poppins Italics" panose="00000500000000000000"/>
              </a:rPr>
              <a:t>Understanding 26 unlabeled columns with no data dictionary meant carefully inferring what each one measured before deciding how to clean it.</a:t>
            </a:r>
          </a:p>
          <a:p>
            <a:pPr marL="653415" lvl="1" indent="-32639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000" b="0" i="0">
                <a:solidFill>
                  <a:srgbClr val="3F3F3F"/>
                </a:solidFill>
                <a:latin typeface="Calibri" panose="020F0502020204030204"/>
              </a:rPr>
              <a:t>Coordinating GitHub uploads across the team took some early trial and error before our workflow settled.</a:t>
            </a:r>
          </a:p>
          <a:p>
            <a:pPr algn="l">
              <a:lnSpc>
                <a:spcPts val="4235"/>
              </a:lnSpc>
              <a:spcAft>
                <a:spcPts val="1000"/>
              </a:spcAft>
            </a:pPr>
            <a:endParaRPr lang="en-US" sz="3025" i="1">
              <a:solidFill>
                <a:srgbClr val="545454"/>
              </a:solidFill>
              <a:latin typeface="Poppins Italics" panose="00000500000000000000"/>
              <a:ea typeface="Poppins Italics" panose="00000500000000000000"/>
              <a:cs typeface="Poppins Italics" panose="00000500000000000000"/>
              <a:sym typeface="Poppins Italics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Challenges Faced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9017" y="4236966"/>
            <a:ext cx="1947649" cy="1947649"/>
          </a:xfrm>
          <a:prstGeom prst="ellipse">
            <a:avLst/>
          </a:prstGeom>
          <a:solidFill>
            <a:srgbClr val="F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29502" y="39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Future Work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0631" y="4200000"/>
            <a:ext cx="15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35"/>
              </a:lnSpc>
              <a:spcAft>
                <a:spcPts val="1000"/>
              </a:spcAft>
            </a:pPr>
            <a:r>
              <a:rPr lang="en-US" sz="2600" b="1">
                <a:solidFill>
                  <a:srgbClr val="112D63"/>
                </a:solidFill>
                <a:latin typeface="Calibri" panose="020F0502020204030204"/>
              </a:rPr>
              <a:t>Where we stand, and what's next:</a:t>
            </a: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r>
              <a:rPr sz="2200" b="0" i="0">
                <a:solidFill>
                  <a:srgbClr val="3F3F3F"/>
                </a:solidFill>
                <a:latin typeface="Calibri" panose="020F0502020204030204"/>
              </a:rPr>
              <a:t>Weeks 5 and 6 will focus on feature engineering (decade and region grouping) and building the final animated heatmap.</a:t>
            </a: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endParaRPr sz="2200" b="0" i="0">
              <a:solidFill>
                <a:srgbClr val="3F3F3F"/>
              </a:solidFill>
              <a:latin typeface="Calibri" panose="020F0502020204030204"/>
            </a:endParaRPr>
          </a:p>
          <a:p>
            <a:pPr algn="l">
              <a:lnSpc>
                <a:spcPts val="4235"/>
              </a:lnSpc>
              <a:spcAft>
                <a:spcPts val="1000"/>
              </a:spcAft>
              <a:buNone/>
            </a:pPr>
            <a:r>
              <a:rPr sz="2200" b="0" i="0">
                <a:solidFill>
                  <a:srgbClr val="3F3F3F"/>
                </a:solidFill>
                <a:latin typeface="Calibri" panose="020F0502020204030204"/>
              </a:rPr>
              <a:t>Overall, the project has successfully cleaned and explored a 99,054-record climate dataset through Week 4, revealing meaningful variation in temperature anomalies across countries and decades, a solid, reliable foundation for the final visual story of global warming.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0631" y="8000000"/>
            <a:ext cx="4666666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0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Missing values remaining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7297" y="8000000"/>
            <a:ext cx="4666666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99,054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Records cleaned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93963" y="8000000"/>
            <a:ext cx="4666666" cy="130000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120000" rIns="60000" rtlCol="0" anchor="ctr"/>
          <a:lstStyle/>
          <a:p>
            <a:pPr algn="ctr"/>
            <a:r>
              <a:rPr sz="3000" b="1">
                <a:solidFill>
                  <a:srgbClr val="112D63"/>
                </a:solidFill>
                <a:latin typeface="Calibri" panose="020F0502020204030204"/>
              </a:rPr>
              <a:t>4</a:t>
            </a:r>
          </a:p>
          <a:p>
            <a:pPr algn="ctr"/>
            <a:r>
              <a:rPr sz="1400" b="0">
                <a:solidFill>
                  <a:srgbClr val="5A6472"/>
                </a:solidFill>
                <a:latin typeface="Calibri" panose="020F0502020204030204"/>
              </a:rPr>
              <a:t>Weeks completed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150000" y="2750000"/>
            <a:ext cx="17988000" cy="6950000"/>
          </a:xfrm>
          <a:prstGeom prst="roundRect">
            <a:avLst>
              <a:gd name="adj" fmla="val 3500"/>
            </a:avLst>
          </a:prstGeom>
          <a:solidFill>
            <a:srgbClr val="FBFDFF"/>
          </a:solidFill>
          <a:ln w="12700">
            <a:solidFill>
              <a:srgbClr val="E1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0631" y="3900000"/>
            <a:ext cx="152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Global_Warming_Dataset.csv: course-provided dataset for 24ADI204 Data Science and Visualization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Pandas Documentation: pandas.pydata.org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Matplotlib Documentation: matplotlib.org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Seaborn Documentation: seaborn.pydata.org</a:t>
            </a:r>
          </a:p>
          <a:p>
            <a:pPr marL="457200" indent="-457200" algn="l">
              <a:lnSpc>
                <a:spcPts val="4235"/>
              </a:lnSpc>
              <a:spcAft>
                <a:spcPts val="1000"/>
              </a:spcAft>
              <a:buClr>
                <a:srgbClr val="E8622C"/>
              </a:buClr>
              <a:buFont typeface="Arial" panose="020B0604020202020204"/>
              <a:buChar char="•"/>
            </a:pPr>
            <a:r>
              <a:rPr sz="2600" b="0" i="0">
                <a:solidFill>
                  <a:srgbClr val="3F3F3F"/>
                </a:solidFill>
                <a:latin typeface="Calibri" panose="020F0502020204030204"/>
              </a:rPr>
              <a:t>SciPy Documentation (stats.zscore): scipy.org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Props1.xml><?xml version="1.0" encoding="utf-8"?>
<ds:datastoreItem xmlns:ds="http://schemas.openxmlformats.org/officeDocument/2006/customXml" ds:itemID="{933E3D7C-5C3D-4B60-9674-3050C6F34FEA}">
  <ds:schemaRefs/>
</ds:datastoreItem>
</file>

<file path=customXml/itemProps2.xml><?xml version="1.0" encoding="utf-8"?>
<ds:datastoreItem xmlns:ds="http://schemas.openxmlformats.org/officeDocument/2006/customXml" ds:itemID="{D0FDA871-35C3-49FC-BE2F-8D9ECBCC2D3E}">
  <ds:schemaRefs/>
</ds:datastoreItem>
</file>

<file path=customXml/itemProps3.xml><?xml version="1.0" encoding="utf-8"?>
<ds:datastoreItem xmlns:ds="http://schemas.openxmlformats.org/officeDocument/2006/customXml" ds:itemID="{5578F222-1B32-4B85-AB90-876A769BC14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1191</Words>
  <Application>Microsoft Office PowerPoint</Application>
  <PresentationFormat>Custom</PresentationFormat>
  <Paragraphs>134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Times New Roman Bold</vt:lpstr>
      <vt:lpstr>Poppins</vt:lpstr>
      <vt:lpstr>Times New Roman</vt:lpstr>
      <vt:lpstr>Poppins Bold Italics</vt:lpstr>
      <vt:lpstr>Arial</vt:lpstr>
      <vt:lpstr>Poppins Bold</vt:lpstr>
      <vt:lpstr>Poppins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24ADI204</dc:title>
  <dc:creator>Jayavanadhi V</dc:creator>
  <cp:lastModifiedBy>Jayavanadhi V</cp:lastModifiedBy>
  <cp:revision>102</cp:revision>
  <dcterms:created xsi:type="dcterms:W3CDTF">2006-08-16T00:00:00Z</dcterms:created>
  <dcterms:modified xsi:type="dcterms:W3CDTF">2026-10-13T09:46:01Z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  <property fmtid="{D5CDD505-2E9C-101B-9397-08002B2CF9AE}" pid="4" name="ICV">
    <vt:lpwstr>CE5637E3D5A449E3A139971C7E134D54_12</vt:lpwstr>
  </property>
  <property fmtid="{D5CDD505-2E9C-101B-9397-08002B2CF9AE}" pid="5" name="KSOProductBuildVer">
    <vt:lpwstr>1036-12.1.0.28485</vt:lpwstr>
  </property>
</Properties>
</file>