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70" r:id="rId28"/>
    <p:sldId id="263" r:id="rId12"/>
    <p:sldId id="271" r:id="rId29"/>
    <p:sldId id="272" r:id="rId30"/>
    <p:sldId id="273" r:id="rId31"/>
    <p:sldId id="269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Poppins" panose="00000500000000000000" pitchFamily="2" charset="0"/>
      <p:regular r:id="rId19"/>
    </p:embeddedFont>
    <p:embeddedFont>
      <p:font typeface="Poppins Bold" panose="020B0604020202020204" charset="0"/>
      <p:bold r:id="rId20"/>
    </p:embeddedFont>
    <p:embeddedFont>
      <p:font typeface="Poppins Bold Italics" panose="020B0604020202020204" charset="0"/>
      <p:boldItalic r:id="rId21"/>
    </p:embeddedFont>
    <p:embeddedFont>
      <p:font typeface="Poppins Italics" panose="020B0604020202020204" charset="0"/>
      <p:italic r:id="rId22"/>
    </p:embeddedFont>
    <p:embeddedFont>
      <p:font typeface="Times New Roman Bold" panose="02020803070505020304" pitchFamily="18" charset="0"/>
      <p:bold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3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8600" y="190500"/>
            <a:ext cx="1299889" cy="1278575"/>
          </a:xfrm>
          <a:custGeom>
            <a:avLst/>
            <a:gdLst/>
            <a:ahLst/>
            <a:cxnLst/>
            <a:rect l="l" t="t" r="r" b="b"/>
            <a:pathLst>
              <a:path w="2488943" h="2529537">
                <a:moveTo>
                  <a:pt x="0" y="0"/>
                </a:moveTo>
                <a:lnTo>
                  <a:pt x="2488944" y="0"/>
                </a:lnTo>
                <a:lnTo>
                  <a:pt x="2488944" y="2529538"/>
                </a:lnTo>
                <a:lnTo>
                  <a:pt x="0" y="25295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070" t="-4622" r="-22184" b="-296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5737790" y="190500"/>
            <a:ext cx="2519089" cy="945897"/>
          </a:xfrm>
          <a:custGeom>
            <a:avLst/>
            <a:gdLst/>
            <a:ahLst/>
            <a:cxnLst/>
            <a:rect l="l" t="t" r="r" b="b"/>
            <a:pathLst>
              <a:path w="4049893" h="1883200">
                <a:moveTo>
                  <a:pt x="0" y="0"/>
                </a:moveTo>
                <a:lnTo>
                  <a:pt x="4049893" y="0"/>
                </a:lnTo>
                <a:lnTo>
                  <a:pt x="4049893" y="1883200"/>
                </a:lnTo>
                <a:lnTo>
                  <a:pt x="0" y="1883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3231061" y="534627"/>
            <a:ext cx="11180668" cy="2507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5"/>
              </a:lnSpc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Artificial Intelligence and Data Science</a:t>
            </a:r>
          </a:p>
          <a:p>
            <a:pPr algn="ctr">
              <a:lnSpc>
                <a:spcPts val="6435"/>
              </a:lnSpc>
              <a:spcBef>
                <a:spcPct val="0"/>
              </a:spcBef>
            </a:pPr>
            <a:r>
              <a:rPr lang="en-US" sz="38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Data Science and Visualization</a:t>
            </a:r>
          </a:p>
          <a:p>
            <a:pPr algn="ctr">
              <a:lnSpc>
                <a:spcPts val="6435"/>
              </a:lnSpc>
              <a:spcBef>
                <a:spcPct val="0"/>
              </a:spcBef>
            </a:pPr>
            <a:r>
              <a:rPr lang="en-US" sz="38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24ADI204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519804" y="3862505"/>
            <a:ext cx="10410901" cy="126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85"/>
              </a:lnSpc>
            </a:pPr>
            <a:r>
              <a:rPr lang="en-US" sz="3560" b="1" dirty="0">
                <a:solidFill>
                  <a:srgbClr val="000000"/>
                </a:solidFill>
                <a:latin typeface="Times New Roman" panose="02020603050405020304" pitchFamily="18" charset="0"/>
                <a:ea typeface="Poppins Bold Italics" panose="00000800000000000000"/>
                <a:cs typeface="Times New Roman" panose="02020603050405020304" pitchFamily="18" charset="0"/>
                <a:sym typeface="Poppins Bold Italics" panose="00000800000000000000"/>
              </a:rPr>
              <a:t>DATA-VIZ HACK-A-BIT (2026-2027) </a:t>
            </a:r>
          </a:p>
          <a:p>
            <a:pPr algn="ctr">
              <a:lnSpc>
                <a:spcPts val="4985"/>
              </a:lnSpc>
              <a:spcBef>
                <a:spcPct val="0"/>
              </a:spcBef>
            </a:pPr>
            <a:endParaRPr lang="en-US" sz="3560" b="1" i="1" dirty="0">
              <a:solidFill>
                <a:srgbClr val="000000"/>
              </a:solidFill>
              <a:latin typeface="Poppins Bold Italics" panose="00000800000000000000"/>
              <a:ea typeface="Poppins Bold Italics" panose="00000800000000000000"/>
              <a:cs typeface="Poppins Bold Italics" panose="00000800000000000000"/>
              <a:sym typeface="Poppins Bold Italics" panose="000008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008777" y="6007337"/>
            <a:ext cx="4887823" cy="6204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65"/>
              </a:lnSpc>
              <a:spcBef>
                <a:spcPct val="0"/>
              </a:spcBef>
            </a:pPr>
            <a:r>
              <a:rPr lang="en-US" sz="3620" dirty="0">
                <a:solidFill>
                  <a:srgbClr val="000000"/>
                </a:solidFill>
                <a:latin typeface="Times New Roman" panose="02020603050405020304" pitchFamily="18" charset="0"/>
                <a:ea typeface="Poppins" panose="00000500000000000000"/>
                <a:cs typeface="Times New Roman" panose="02020603050405020304" pitchFamily="18" charset="0"/>
                <a:sym typeface="Poppins" panose="00000500000000000000"/>
              </a:rPr>
              <a:t>Team Number: 17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257800" y="4905918"/>
            <a:ext cx="6324600" cy="4809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65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Times New Roman" panose="02020603050405020304" pitchFamily="18" charset="0"/>
                <a:ea typeface="Poppins Bold" panose="00000800000000000000"/>
                <a:cs typeface="Times New Roman" panose="02020603050405020304" pitchFamily="18" charset="0"/>
                <a:sym typeface="Poppins Bold" panose="00000800000000000000"/>
              </a:rPr>
              <a:t>MID REVIEW (September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1061" y="6850000"/>
            <a:ext cx="11180668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35"/>
              </a:lnSpc>
              <a:buNone/>
            </a:pPr>
            <a:r>
              <a:rPr sz="3000" b="1" i="1">
                <a:solidFill>
                  <a:srgbClr val="112D63"/>
                </a:solidFill>
                <a:latin typeface="Times New Roman" panose="02020603050405020304"/>
              </a:rPr>
              <a:t>"The Heat Is On: A Visual Timeline of Global Warming"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000" y="7750000"/>
            <a:ext cx="547454" cy="500000"/>
          </a:xfrm>
          <a:prstGeom prst="rect">
            <a:avLst/>
          </a:prstGeom>
          <a:solidFill>
            <a:srgbClr val="083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89454" y="7750000"/>
            <a:ext cx="547454" cy="500000"/>
          </a:xfrm>
          <a:prstGeom prst="rect">
            <a:avLst/>
          </a:prstGeom>
          <a:solidFill>
            <a:srgbClr val="2166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234908" y="7750000"/>
            <a:ext cx="547454" cy="500000"/>
          </a:xfrm>
          <a:prstGeom prst="rect">
            <a:avLst/>
          </a:prstGeom>
          <a:solidFill>
            <a:srgbClr val="439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80362" y="7750000"/>
            <a:ext cx="547454" cy="500000"/>
          </a:xfrm>
          <a:prstGeom prst="rect">
            <a:avLst/>
          </a:prstGeom>
          <a:solidFill>
            <a:srgbClr val="92C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325816" y="7750000"/>
            <a:ext cx="547454" cy="500000"/>
          </a:xfrm>
          <a:prstGeom prst="rect">
            <a:avLst/>
          </a:prstGeom>
          <a:solidFill>
            <a:srgbClr val="D1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871270" y="7750000"/>
            <a:ext cx="547454" cy="500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416724" y="7750000"/>
            <a:ext cx="547454" cy="500000"/>
          </a:xfrm>
          <a:prstGeom prst="rect">
            <a:avLst/>
          </a:prstGeom>
          <a:solidFill>
            <a:srgbClr val="FDD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962178" y="7750000"/>
            <a:ext cx="547454" cy="500000"/>
          </a:xfrm>
          <a:prstGeom prst="rect">
            <a:avLst/>
          </a:prstGeom>
          <a:solidFill>
            <a:srgbClr val="F4A5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507632" y="7750000"/>
            <a:ext cx="547454" cy="500000"/>
          </a:xfrm>
          <a:prstGeom prst="rect">
            <a:avLst/>
          </a:prstGeom>
          <a:solidFill>
            <a:srgbClr val="D66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053086" y="7750000"/>
            <a:ext cx="547454" cy="50000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598540" y="7750000"/>
            <a:ext cx="547454" cy="500000"/>
          </a:xfrm>
          <a:prstGeom prst="rect">
            <a:avLst/>
          </a:prstGeom>
          <a:solidFill>
            <a:srgbClr val="67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000" y="8310000"/>
            <a:ext cx="6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08080"/>
                </a:solidFill>
                <a:latin typeface="Calibri" panose="020F0502020204030204"/>
              </a:rPr>
              <a:t>Preview of the final “warming stripes” visualization style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0" name="Rounded Rectangle 9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4422448" y="923093"/>
            <a:ext cx="8840169" cy="1185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3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Problem Statement </a:t>
            </a:r>
          </a:p>
        </p:txBody>
      </p:sp>
      <p:sp>
        <p:nvSpPr>
          <p:cNvPr id="9" name="Oval 8"/>
          <p:cNvSpPr/>
          <p:nvPr/>
        </p:nvSpPr>
        <p:spPr>
          <a:xfrm>
            <a:off x="925233" y="4366971"/>
            <a:ext cx="1524862" cy="1524862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734625" y="4263003"/>
            <a:ext cx="1906078" cy="1732798"/>
          </a:xfrm>
          <a:custGeom>
            <a:avLst/>
            <a:gdLst/>
            <a:ahLst/>
            <a:cxnLst/>
            <a:rect l="l" t="t" r="r" b="b"/>
            <a:pathLst>
              <a:path w="1906078" h="1732798">
                <a:moveTo>
                  <a:pt x="0" y="0"/>
                </a:moveTo>
                <a:lnTo>
                  <a:pt x="1906078" y="0"/>
                </a:lnTo>
                <a:lnTo>
                  <a:pt x="1906078" y="1732798"/>
                </a:lnTo>
                <a:lnTo>
                  <a:pt x="0" y="1732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2860631" y="4131254"/>
            <a:ext cx="152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4235"/>
              </a:lnSpc>
              <a:spcAft>
                <a:spcPts val="1000"/>
              </a:spcAft>
            </a:pPr>
            <a:r>
              <a:rPr lang="en-US" sz="2600" b="1">
                <a:solidFill>
                  <a:srgbClr val="112D63"/>
                </a:solidFill>
                <a:latin typeface="Calibri" panose="020F0502020204030204"/>
              </a:rPr>
              <a:t>Why this project matters:</a:t>
            </a:r>
          </a:p>
          <a:p>
            <a:pPr algn="l">
              <a:lnSpc>
                <a:spcPts val="4235"/>
              </a:lnSpc>
              <a:spcAft>
                <a:spcPts val="1000"/>
              </a:spcAft>
              <a:buNone/>
            </a:pPr>
            <a:r>
              <a:rPr sz="2500" b="0" i="0">
                <a:solidFill>
                  <a:srgbClr val="3F3F3F"/>
                </a:solidFill>
                <a:latin typeface="Calibri" panose="020F0502020204030204"/>
              </a:rPr>
              <a:t>Rising global temperatures are reshaping weather, sea levels and ecosystems, but the scale of this change is hard to grasp from raw numbers alone.</a:t>
            </a:r>
          </a:p>
          <a:p>
            <a:pPr algn="l">
              <a:lnSpc>
                <a:spcPts val="4235"/>
              </a:lnSpc>
              <a:spcAft>
                <a:spcPts val="1000"/>
              </a:spcAft>
              <a:buNone/>
            </a:pPr>
            <a:endParaRPr sz="2500" b="0" i="0">
              <a:solidFill>
                <a:srgbClr val="3F3F3F"/>
              </a:solidFill>
              <a:latin typeface="Calibri" panose="020F0502020204030204"/>
            </a:endParaRPr>
          </a:p>
          <a:p>
            <a:pPr algn="l">
              <a:lnSpc>
                <a:spcPts val="4235"/>
              </a:lnSpc>
              <a:spcAft>
                <a:spcPts val="1000"/>
              </a:spcAft>
              <a:buNone/>
            </a:pPr>
            <a:r>
              <a:rPr sz="2500" b="0" i="0">
                <a:solidFill>
                  <a:srgbClr val="3F3F3F"/>
                </a:solidFill>
                <a:latin typeface="Calibri" panose="020F0502020204030204"/>
              </a:rPr>
              <a:t>This project uses 124 years of country-level climate data (1900-2023) to show, in a clear visual way, how much the planet has actually warmed and where that warming is happening fastest.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60631" y="8000000"/>
            <a:ext cx="4333333" cy="13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1900–2023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Years of climate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43964" y="8000000"/>
            <a:ext cx="4333333" cy="13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195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Countries covered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27297" y="8000000"/>
            <a:ext cx="4333333" cy="13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100,000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Records analyzed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4422448" y="923093"/>
            <a:ext cx="8840169" cy="1185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3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Project Objectives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860631" y="4607276"/>
            <a:ext cx="15400000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52780" lvl="1" indent="-326390" algn="l">
              <a:lnSpc>
                <a:spcPts val="4235"/>
              </a:lnSpc>
              <a:spcBef>
                <a:spcPct val="0"/>
              </a:spcBef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500" b="0" i="0" dirty="0">
                <a:solidFill>
                  <a:srgbClr val="3F3F3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 explore historical temperature anomaly data from 1900 to 2023 across 195 countries.</a:t>
            </a:r>
            <a:endParaRPr lang="en-US" sz="3000" dirty="0">
              <a:solidFill>
                <a:srgbClr val="545454"/>
              </a:solidFill>
              <a:ea typeface="Calibri" panose="020F0502020204030204"/>
              <a:cs typeface="Calibri" panose="020F0502020204030204"/>
            </a:endParaRPr>
          </a:p>
          <a:p>
            <a:pPr marL="652780" lvl="1" indent="-326390" algn="l">
              <a:lnSpc>
                <a:spcPts val="4235"/>
              </a:lnSpc>
              <a:spcBef>
                <a:spcPct val="0"/>
              </a:spcBef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500" b="0" i="0" dirty="0">
                <a:solidFill>
                  <a:srgbClr val="3F3F3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 identify long-term warming trends and patterns across different regions and decades.</a:t>
            </a:r>
            <a:endParaRPr lang="en-US" sz="3000" dirty="0">
              <a:solidFill>
                <a:srgbClr val="545454"/>
              </a:solidFill>
              <a:ea typeface="Calibri" panose="020F0502020204030204"/>
              <a:cs typeface="Calibri" panose="020F0502020204030204"/>
            </a:endParaRPr>
          </a:p>
          <a:p>
            <a:pPr marL="652780" lvl="1" indent="-326390" algn="l">
              <a:lnSpc>
                <a:spcPts val="4235"/>
              </a:lnSpc>
              <a:spcBef>
                <a:spcPct val="0"/>
              </a:spcBef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500" b="0" i="0" dirty="0">
                <a:solidFill>
                  <a:srgbClr val="3F3F3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 clean the dataset thoroughly, handling missing values and outliers so the analysis stays reliable.</a:t>
            </a:r>
            <a:endParaRPr lang="en-US" sz="3000" dirty="0">
              <a:solidFill>
                <a:srgbClr val="545454"/>
              </a:solidFill>
              <a:ea typeface="Calibri" panose="020F0502020204030204"/>
              <a:cs typeface="Calibri" panose="020F0502020204030204"/>
            </a:endParaRPr>
          </a:p>
          <a:p>
            <a:pPr marL="652780" lvl="1" indent="-326390" algn="l">
              <a:lnSpc>
                <a:spcPts val="4235"/>
              </a:lnSpc>
              <a:spcBef>
                <a:spcPct val="0"/>
              </a:spcBef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500" b="0" i="0" dirty="0">
                <a:solidFill>
                  <a:srgbClr val="3F3F3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We aim to build a clear, animated "warming stripes" visualization that communicates climate change simply.</a:t>
            </a:r>
            <a:endParaRPr lang="en-US" sz="3000" dirty="0">
              <a:solidFill>
                <a:srgbClr val="545454"/>
              </a:solidFill>
              <a:ea typeface="Calibri" panose="020F0502020204030204"/>
              <a:cs typeface="Calibri" panose="020F0502020204030204"/>
            </a:endParaRPr>
          </a:p>
          <a:p>
            <a:pPr marL="652780" lvl="1" indent="-326390" algn="l">
              <a:lnSpc>
                <a:spcPts val="4235"/>
              </a:lnSpc>
              <a:spcBef>
                <a:spcPct val="0"/>
              </a:spcBef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500" b="0" i="0">
                <a:solidFill>
                  <a:srgbClr val="3F3F3F"/>
                </a:solidFill>
                <a:latin typeface="Calibri" panose="020F0502020204030204"/>
              </a:rPr>
              <a:t>We document our process clearly each week so our GitHub repo tells the full story of the project.</a:t>
            </a:r>
            <a:endParaRPr lang="en-US" sz="3000" dirty="0">
              <a:solidFill>
                <a:srgbClr val="545454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Oval 7"/>
          <p:cNvSpPr/>
          <p:nvPr/>
        </p:nvSpPr>
        <p:spPr>
          <a:xfrm>
            <a:off x="901573" y="4198124"/>
            <a:ext cx="1462556" cy="1462556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718753" y="4015304"/>
            <a:ext cx="1828196" cy="1828196"/>
          </a:xfrm>
          <a:custGeom>
            <a:avLst/>
            <a:gdLst/>
            <a:ahLst/>
            <a:cxnLst/>
            <a:rect l="l" t="t" r="r" b="b"/>
            <a:pathLst>
              <a:path w="1828196" h="1828196">
                <a:moveTo>
                  <a:pt x="0" y="0"/>
                </a:moveTo>
                <a:lnTo>
                  <a:pt x="1828196" y="0"/>
                </a:lnTo>
                <a:lnTo>
                  <a:pt x="1828196" y="1828196"/>
                </a:lnTo>
                <a:lnTo>
                  <a:pt x="0" y="18281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4422448" y="923093"/>
            <a:ext cx="8840169" cy="1185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3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Scope of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0631" y="4000000"/>
            <a:ext cx="15200000" cy="35000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lnSpc>
                <a:spcPts val="4235"/>
              </a:lnSpc>
              <a:spcAft>
                <a:spcPts val="1000"/>
              </a:spcAft>
            </a:pPr>
            <a:r>
              <a:rPr lang="en-US" sz="2600" b="1">
                <a:solidFill>
                  <a:srgbClr val="112D63"/>
                </a:solidFill>
                <a:latin typeface="Calibri" panose="020F0502020204030204"/>
              </a:rPr>
              <a:t>What's in scope, and what isn't:</a:t>
            </a:r>
          </a:p>
          <a:p>
            <a:pPr>
              <a:spcAft>
                <a:spcPts val="1000"/>
              </a:spcAft>
            </a:pPr>
            <a:r>
              <a:rPr lang="en-US" sz="2300" b="0" i="0">
                <a:solidFill>
                  <a:srgbClr val="3F3F3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This project covers the Global Warming dataset (1900-2023): 100,000 records across 195 countries and 26 indicators, including temperature anomaly, CO2 emissions, population, forest area and renewable energy usage.</a:t>
            </a:r>
            <a:endParaRPr lang="en-US" sz="3000">
              <a:ea typeface="Calibri" panose="020F0502020204030204"/>
              <a:cs typeface="Calibri" panose="020F0502020204030204"/>
            </a:endParaRPr>
          </a:p>
          <a:p>
            <a:pPr>
              <a:spcAft>
                <a:spcPts val="1000"/>
              </a:spcAft>
            </a:pPr>
            <a:r>
              <a:rPr lang="en-US" sz="2300" b="0" i="0">
                <a:solidFill>
                  <a:srgbClr val="3F3F3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scope includes data cleaning, exploratory data analysis, and visualization, specifically building an animated heatmap of temperature anomalies over time. It does not include predictive modeling; the focus is on understanding and visually communicating what has already happened to the climate over the last century.</a:t>
            </a:r>
            <a:endParaRPr lang="en-US" sz="30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60631" y="6900000"/>
            <a:ext cx="4333333" cy="15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100,000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43964" y="6900000"/>
            <a:ext cx="4333333" cy="15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195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Countries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27297" y="6900000"/>
            <a:ext cx="4333333" cy="15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26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Indicators tracked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4422448" y="923093"/>
            <a:ext cx="8840169" cy="1185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3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Dataset Description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06709" y="3231254"/>
            <a:ext cx="15200000" cy="3744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35"/>
              </a:lnSpc>
              <a:spcAft>
                <a:spcPts val="1000"/>
              </a:spcAft>
            </a:pPr>
            <a:r>
              <a:rPr lang="en-US" sz="2600" b="1" i="0">
                <a:solidFill>
                  <a:srgbClr val="112D63"/>
                </a:solidFill>
                <a:latin typeface="Calibri" panose="020F0502020204030204"/>
                <a:ea typeface="+mn-lt"/>
                <a:cs typeface="Poppins Italics" panose="00000500000000000000"/>
              </a:rPr>
              <a:t>Here are the key details of our dataset:</a:t>
            </a:r>
            <a:endParaRPr lang="en-US"/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200" b="0" i="0">
                <a:solidFill>
                  <a:srgbClr val="3F3F3F"/>
                </a:solidFill>
                <a:latin typeface="Calibri" panose="020F0502020204030204"/>
                <a:ea typeface="+mn-lt"/>
                <a:cs typeface="Poppins Italics" panose="00000500000000000000"/>
                <a:sym typeface="Poppins Italics" panose="00000500000000000000"/>
              </a:rPr>
              <a:t>The dataset is a structured CSV file from Kaggle: Global Warming Dataset, 195 Countries (1900-2023).</a:t>
            </a:r>
            <a:endParaRPr lang="en-US" sz="3000" i="1">
              <a:solidFill>
                <a:srgbClr val="545454"/>
              </a:solidFill>
              <a:latin typeface="Poppins Italics" panose="00000500000000000000"/>
              <a:ea typeface="Calibri" panose="020F0502020204030204"/>
              <a:cs typeface="Poppins Italics" panose="00000500000000000000"/>
            </a:endParaRPr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200" b="0" i="0">
                <a:solidFill>
                  <a:srgbClr val="3F3F3F"/>
                </a:solidFill>
                <a:latin typeface="Calibri" panose="020F0502020204030204"/>
                <a:ea typeface="+mn-lt"/>
                <a:cs typeface="Poppins Italics" panose="00000500000000000000"/>
                <a:sym typeface="Poppins Italics" panose="00000500000000000000"/>
              </a:rPr>
              <a:t>The variable we study most closely throughout the project is Temperature_Anomaly.</a:t>
            </a:r>
            <a:endParaRPr lang="en-US" sz="3000" i="1">
              <a:solidFill>
                <a:srgbClr val="545454"/>
              </a:solidFill>
              <a:latin typeface="Poppins Italics" panose="00000500000000000000"/>
              <a:ea typeface="+mn-lt"/>
              <a:cs typeface="Poppins Italics" panose="00000500000000000000"/>
            </a:endParaRPr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200" b="0" i="0">
                <a:solidFill>
                  <a:srgbClr val="3F3F3F"/>
                </a:solidFill>
                <a:latin typeface="Calibri" panose="020F0502020204030204"/>
              </a:rPr>
              <a:t>The data is structured and almost entirely numeric, with Country as the only categorical field.</a:t>
            </a:r>
            <a:endParaRPr lang="en-US" sz="3000" i="1">
              <a:solidFill>
                <a:srgbClr val="545454"/>
              </a:solidFill>
              <a:latin typeface="Poppins Italics" panose="00000500000000000000"/>
              <a:ea typeface="+mn-lt"/>
              <a:cs typeface="Poppins Italics" panose="00000500000000000000"/>
            </a:endParaRPr>
          </a:p>
          <a:p>
            <a:pPr algn="l">
              <a:lnSpc>
                <a:spcPts val="4235"/>
              </a:lnSpc>
              <a:spcAft>
                <a:spcPts val="1000"/>
              </a:spcAft>
            </a:pP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  <a:sym typeface="Poppins Italics" panose="00000500000000000000"/>
            </a:endParaRPr>
          </a:p>
        </p:txBody>
      </p:sp>
      <p:sp>
        <p:nvSpPr>
          <p:cNvPr id="8" name="Oval 7"/>
          <p:cNvSpPr/>
          <p:nvPr/>
        </p:nvSpPr>
        <p:spPr>
          <a:xfrm>
            <a:off x="745662" y="3482682"/>
            <a:ext cx="1249424" cy="1249424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589484" y="3326504"/>
            <a:ext cx="1561780" cy="1561780"/>
          </a:xfrm>
          <a:custGeom>
            <a:avLst/>
            <a:gdLst/>
            <a:ahLst/>
            <a:cxnLst/>
            <a:rect l="l" t="t" r="r" b="b"/>
            <a:pathLst>
              <a:path w="1561780" h="1561780">
                <a:moveTo>
                  <a:pt x="0" y="0"/>
                </a:moveTo>
                <a:lnTo>
                  <a:pt x="1561781" y="0"/>
                </a:lnTo>
                <a:lnTo>
                  <a:pt x="1561781" y="1561780"/>
                </a:lnTo>
                <a:lnTo>
                  <a:pt x="0" y="15617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Rounded Rectangle 9"/>
          <p:cNvSpPr/>
          <p:nvPr/>
        </p:nvSpPr>
        <p:spPr>
          <a:xfrm>
            <a:off x="2406709" y="6750000"/>
            <a:ext cx="3612500" cy="15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100,000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9209" y="6750000"/>
            <a:ext cx="3612500" cy="15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195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Countries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709" y="6750000"/>
            <a:ext cx="3612500" cy="15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26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94209" y="6750000"/>
            <a:ext cx="3612500" cy="15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1900–2023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Years covered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Methodology(Process / Workflow)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06709" y="3231254"/>
            <a:ext cx="15200000" cy="32056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35"/>
              </a:lnSpc>
              <a:spcAft>
                <a:spcPts val="1000"/>
              </a:spcAft>
            </a:pPr>
            <a:r>
              <a:rPr lang="en-US" sz="2600" b="1" i="0">
                <a:solidFill>
                  <a:srgbClr val="112D63"/>
                </a:solidFill>
                <a:latin typeface="Calibri" panose="020F0502020204030204"/>
                <a:ea typeface="+mn-lt"/>
                <a:cs typeface="Poppins Italics" panose="00000500000000000000"/>
              </a:rPr>
              <a:t>Here is our workflow so far, covering Weeks 1 through 4:</a:t>
            </a:r>
            <a:endParaRPr lang="en-US"/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200" b="0" i="0">
                <a:solidFill>
                  <a:srgbClr val="3F3F3F"/>
                </a:solidFill>
                <a:latin typeface="Calibri" panose="020F0502020204030204"/>
                <a:ea typeface="+mn-lt"/>
                <a:cs typeface="Poppins Italics" panose="00000500000000000000"/>
                <a:sym typeface="Poppins Italics" panose="00000500000000000000"/>
              </a:rPr>
              <a:t>In Week 1, we selected the Global Warming dataset and set up our GitHub repository.</a:t>
            </a:r>
            <a:endParaRPr lang="en-US" sz="3000" i="1">
              <a:solidFill>
                <a:srgbClr val="545454"/>
              </a:solidFill>
              <a:latin typeface="Poppins Italics" panose="00000500000000000000"/>
              <a:ea typeface="+mn-lt"/>
              <a:cs typeface="Poppins Italics" panose="00000500000000000000"/>
            </a:endParaRPr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200" b="0" i="0">
                <a:solidFill>
                  <a:srgbClr val="3F3F3F"/>
                </a:solidFill>
                <a:latin typeface="Calibri" panose="020F0502020204030204"/>
                <a:ea typeface="+mn-lt"/>
                <a:cs typeface="Poppins Italics" panose="00000500000000000000"/>
              </a:rPr>
              <a:t>In Week 2, we explored the raw dataset's structure, checked column types, and put together a "first impression" report.</a:t>
            </a:r>
            <a:endParaRPr lang="en-US" sz="3000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</a:endParaRPr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200" b="0" i="0">
                <a:solidFill>
                  <a:srgbClr val="3F3F3F"/>
                </a:solidFill>
                <a:latin typeface="Calibri" panose="020F0502020204030204"/>
                <a:ea typeface="+mn-lt"/>
                <a:cs typeface="Poppins Italics" panose="00000500000000000000"/>
              </a:rPr>
              <a:t>In Week 3, we cleaned the data with median imputation on six columns and checked for duplicate rows and outliers using both the IQR and Z-score methods; none were found.</a:t>
            </a:r>
            <a:endParaRPr lang="en-US" sz="3000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</a:endParaRPr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200" b="0" i="0">
                <a:solidFill>
                  <a:srgbClr val="3F3F3F"/>
                </a:solidFill>
                <a:latin typeface="Calibri" panose="020F0502020204030204"/>
                <a:ea typeface="+mn-lt"/>
                <a:cs typeface="Poppins Italics" panose="00000500000000000000"/>
              </a:rPr>
              <a:t>In Week 4, we explored the data through univariate and bivariate analysis, a correlation heatmap, and several trend charts.</a:t>
            </a: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</a:endParaRPr>
          </a:p>
          <a:p>
            <a:pPr marL="652780" lvl="1" indent="-326390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200" i="1">
                <a:solidFill>
                  <a:srgbClr val="6B6B6B"/>
                </a:solidFill>
                <a:latin typeface="Calibri" panose="020F0502020204030204"/>
              </a:rPr>
              <a:t>Weeks 5 and 6 are still ahead: feature engineering and building the final animated heatmap.</a:t>
            </a: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</a:endParaRPr>
          </a:p>
          <a:p>
            <a:pPr algn="l">
              <a:lnSpc>
                <a:spcPts val="4235"/>
              </a:lnSpc>
              <a:spcAft>
                <a:spcPts val="1000"/>
              </a:spcAft>
            </a:pP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  <a:sym typeface="Poppins Italics" panose="00000500000000000000"/>
            </a:endParaRPr>
          </a:p>
        </p:txBody>
      </p:sp>
      <p:sp>
        <p:nvSpPr>
          <p:cNvPr id="8" name="Oval 7"/>
          <p:cNvSpPr/>
          <p:nvPr/>
        </p:nvSpPr>
        <p:spPr>
          <a:xfrm>
            <a:off x="546480" y="3288032"/>
            <a:ext cx="1653537" cy="1653537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339787" y="3086100"/>
            <a:ext cx="2066922" cy="2057400"/>
          </a:xfrm>
          <a:custGeom>
            <a:avLst/>
            <a:gdLst/>
            <a:ahLst/>
            <a:cxnLst/>
            <a:rect l="l" t="t" r="r" b="b"/>
            <a:pathLst>
              <a:path w="2066922" h="2057400">
                <a:moveTo>
                  <a:pt x="0" y="0"/>
                </a:moveTo>
                <a:lnTo>
                  <a:pt x="2066922" y="0"/>
                </a:lnTo>
                <a:lnTo>
                  <a:pt x="2066922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9"/>
          <p:cNvSpPr txBox="1"/>
          <p:nvPr/>
        </p:nvSpPr>
        <p:spPr>
          <a:xfrm>
            <a:off x="2406709" y="7750000"/>
            <a:ext cx="152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12D63"/>
                </a:solidFill>
                <a:latin typeface="Calibri" panose="020F0502020204030204"/>
              </a:rPr>
              <a:t>Dataset structure we confirmed in Week 2 (used to guide Week 3 cleaning):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406709" y="8250000"/>
          <a:ext cx="9200000" cy="17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Column</a:t>
                      </a:r>
                    </a:p>
                  </a:txBody>
                  <a:tcPr marL="70000" marR="70000" marT="40000" marB="40000" anchor="ctr">
                    <a:solidFill>
                      <a:srgbClr val="112D6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Type</a:t>
                      </a:r>
                    </a:p>
                  </a:txBody>
                  <a:tcPr marL="70000" marR="70000" marT="40000" marB="40000" anchor="ctr">
                    <a:solidFill>
                      <a:srgbClr val="112D6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Example value</a:t>
                      </a:r>
                    </a:p>
                  </a:txBody>
                  <a:tcPr marL="70000" marR="70000" marT="40000" marB="40000" anchor="ctr">
                    <a:solidFill>
                      <a:srgbClr val="112D6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Notes</a:t>
                      </a:r>
                    </a:p>
                  </a:txBody>
                  <a:tcPr marL="70000" marR="70000" marT="40000" marB="40000" anchor="ctr">
                    <a:solidFill>
                      <a:srgbClr val="112D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Country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Text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Country_103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195 unique values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Year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Integer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1913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Range: 1900-2023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Temperature_Anomaly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Decimal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-1.16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Primary variable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CO2_Emissions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Decimal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887,606,100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F3F3F"/>
                          </a:solidFill>
                          <a:latin typeface="Calibri" panose="020F0502020204030204"/>
                        </a:rPr>
                        <a:t>No outliers (IQR and Z-score)</a:t>
                      </a:r>
                    </a:p>
                  </a:txBody>
                  <a:tcPr marL="70000" marR="70000" marT="40000" marB="40000" anchor="ctr">
                    <a:solidFill>
                      <a:srgbClr val="F4F8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11900000" y="8250000"/>
            <a:ext cx="5700000" cy="1430000"/>
          </a:xfrm>
          <a:prstGeom prst="roundRect">
            <a:avLst>
              <a:gd name="adj" fmla="val 6000"/>
            </a:avLst>
          </a:prstGeom>
          <a:solidFill>
            <a:srgbClr val="FCE7DC"/>
          </a:solidFill>
          <a:ln w="12700">
            <a:solidFill>
              <a:srgbClr val="E86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150000" rIns="180000" rtlCol="0" anchor="ctr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12D63"/>
                </a:solidFill>
                <a:latin typeface="Calibri" panose="020F0502020204030204"/>
              </a:rPr>
              <a:t>Outlier check example (IQR method)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F3F3F"/>
                </a:solidFill>
                <a:latin typeface="Calibri" panose="020F0502020204030204"/>
              </a:rPr>
              <a:t>Column: CO2_Emissions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F3F3F"/>
                </a:solidFill>
                <a:latin typeface="Calibri" panose="020F0502020204030204"/>
              </a:rPr>
              <a:t>Q1 = 250.4M   Q3 = 750.6M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F3F3F"/>
                </a:solidFill>
                <a:latin typeface="Calibri" panose="020F0502020204030204"/>
              </a:rPr>
              <a:t>IQR = Q3 - Q1 = 500.2M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F3F3F"/>
                </a:solidFill>
                <a:latin typeface="Calibri" panose="020F0502020204030204"/>
              </a:rPr>
              <a:t>Upper bound = Q3 + 1.5 x IQR ≈ 1,501M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8622C"/>
                </a:solidFill>
                <a:latin typeface="Calibri" panose="020F0502020204030204"/>
              </a:rPr>
              <a:t>No value exceeded this bound, so 0 outliers were found.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2022149" y="3355777"/>
            <a:ext cx="15200000" cy="1618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35"/>
              </a:lnSpc>
              <a:spcAft>
                <a:spcPts val="1000"/>
              </a:spcAft>
            </a:pPr>
            <a:r>
              <a:rPr sz="2600" b="1">
                <a:solidFill>
                  <a:srgbClr val="112D63"/>
                </a:solidFill>
                <a:latin typeface="Calibri" panose="020F0502020204030204"/>
              </a:rPr>
              <a:t>Cleaning results from Week 3: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7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We filled missing values in six columns using median imputation, checked for duplicate rows (0 found), and validated the Year (1900-2023) and Country (195 unique) fields. We also tested for outliers using both the IQR and Z-score (threshold 3) methods; neither flagged any value, so no rows were removed. This resulted in a clean dataset of 100,000 records, Global_Warming_Fully_Cleaned.csv, with zero missing values and zero duplicates.</a:t>
            </a:r>
          </a:p>
          <a:p>
            <a:pPr algn="l">
              <a:lnSpc>
                <a:spcPts val="4235"/>
              </a:lnSpc>
              <a:spcAft>
                <a:spcPts val="1000"/>
              </a:spcAft>
            </a:pP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  <a:sym typeface="Poppins Italics" panose="00000500000000000000"/>
            </a:endParaRPr>
          </a:p>
        </p:txBody>
      </p:sp>
      <p:sp>
        <p:nvSpPr>
          <p:cNvPr id="8" name="Oval 7"/>
          <p:cNvSpPr/>
          <p:nvPr/>
        </p:nvSpPr>
        <p:spPr>
          <a:xfrm>
            <a:off x="415242" y="4049395"/>
            <a:ext cx="1849984" cy="1849984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457287" y="3818147"/>
            <a:ext cx="1765895" cy="2312481"/>
          </a:xfrm>
          <a:custGeom>
            <a:avLst/>
            <a:gdLst/>
            <a:ahLst/>
            <a:cxnLst/>
            <a:rect l="l" t="t" r="r" b="b"/>
            <a:pathLst>
              <a:path w="1765895" h="2312481">
                <a:moveTo>
                  <a:pt x="0" y="0"/>
                </a:moveTo>
                <a:lnTo>
                  <a:pt x="1765895" y="0"/>
                </a:lnTo>
                <a:lnTo>
                  <a:pt x="1765895" y="2312481"/>
                </a:lnTo>
                <a:lnTo>
                  <a:pt x="0" y="2312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Results From Workflow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2192149" y="2655777"/>
            <a:ext cx="15430000" cy="3752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35"/>
              </a:lnSpc>
              <a:spcAft>
                <a:spcPts val="1000"/>
              </a:spcAft>
            </a:pPr>
            <a:endParaRPr/>
          </a:p>
          <a:p>
            <a:pPr algn="l">
              <a:lnSpc>
                <a:spcPts val="4235"/>
              </a:lnSpc>
              <a:spcAft>
                <a:spcPts val="1000"/>
              </a:spcAft>
            </a:pPr>
            <a:r>
              <a:rPr lang="en-US" sz="2600" b="1" i="0">
                <a:solidFill>
                  <a:srgbClr val="112D63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Results from Week 4's exploratory data analysis: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1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We reviewed the mean, median and spread of temperature anomaly and other indicators through summary statistics.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1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We looked at the distribution of Temperature_Anomaly using histograms, KDE plots, boxplots and violin plots.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1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We checked correlations with a heatmap and a CO2-vs-temperature scatter and regression plot.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100" b="0" i="1">
                <a:solidFill>
                  <a:srgbClr val="6B6B6B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Our key insight: average anomalies stay close to zero across countries and decades, and the variables show almost no correlation.</a:t>
            </a:r>
          </a:p>
          <a:p>
            <a:pPr algn="l">
              <a:lnSpc>
                <a:spcPts val="4235"/>
              </a:lnSpc>
              <a:spcAft>
                <a:spcPts val="1000"/>
              </a:spcAft>
            </a:pP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  <a:sym typeface="Poppins Italics" panose="00000500000000000000"/>
            </a:endParaRPr>
          </a:p>
        </p:txBody>
      </p:sp>
      <p:sp>
        <p:nvSpPr>
          <p:cNvPr id="8" name="Oval 7"/>
          <p:cNvSpPr/>
          <p:nvPr/>
        </p:nvSpPr>
        <p:spPr>
          <a:xfrm>
            <a:off x="415242" y="3349395"/>
            <a:ext cx="1849984" cy="1849984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457287" y="3118147"/>
            <a:ext cx="1765895" cy="2312481"/>
          </a:xfrm>
          <a:custGeom>
            <a:avLst/>
            <a:gdLst/>
            <a:ahLst/>
            <a:cxnLst/>
            <a:rect l="l" t="t" r="r" b="b"/>
            <a:pathLst>
              <a:path w="1765895" h="2312481">
                <a:moveTo>
                  <a:pt x="0" y="0"/>
                </a:moveTo>
                <a:lnTo>
                  <a:pt x="1765895" y="0"/>
                </a:lnTo>
                <a:lnTo>
                  <a:pt x="1765895" y="2312481"/>
                </a:lnTo>
                <a:lnTo>
                  <a:pt x="0" y="2312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Results From Workflow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Data Quality &amp; EDA Dashboard (Weeks 1–4)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000" y="2900000"/>
            <a:ext cx="15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2D63"/>
                </a:solidFill>
                <a:latin typeface="Calibri" panose="020F0502020204030204"/>
              </a:rPr>
              <a:t>A quick snapshot of the dataset we cleaned and explored in Weeks 1–4:</a:t>
            </a:r>
          </a:p>
        </p:txBody>
      </p:sp>
      <p:pic>
        <p:nvPicPr>
          <p:cNvPr id="11" name="Picture 10" descr="dashbo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145" y="3600000"/>
            <a:ext cx="8465709" cy="575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82412" y="4208059"/>
            <a:ext cx="1761061" cy="1761061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262279" y="4124008"/>
            <a:ext cx="2201327" cy="1929163"/>
          </a:xfrm>
          <a:custGeom>
            <a:avLst/>
            <a:gdLst/>
            <a:ahLst/>
            <a:cxnLst/>
            <a:rect l="l" t="t" r="r" b="b"/>
            <a:pathLst>
              <a:path w="2201327" h="1929163">
                <a:moveTo>
                  <a:pt x="0" y="0"/>
                </a:moveTo>
                <a:lnTo>
                  <a:pt x="2201327" y="0"/>
                </a:lnTo>
                <a:lnTo>
                  <a:pt x="2201327" y="1929163"/>
                </a:lnTo>
                <a:lnTo>
                  <a:pt x="0" y="19291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2703883" y="3698259"/>
            <a:ext cx="15200000" cy="2685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35"/>
              </a:lnSpc>
              <a:spcAft>
                <a:spcPts val="1000"/>
              </a:spcAft>
            </a:pPr>
            <a:r>
              <a:rPr lang="en-US" sz="2500" b="1" i="0">
                <a:solidFill>
                  <a:srgbClr val="112D63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Our plan for Weeks 5 and 6, and what we expect by the end: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1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Feature engineering: we will scale the numeric features and encode Country to prepare the data for PCA and the final visualization.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1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Final data quality: zero missing values, zero duplicates, no extreme outliers, and every field validated, exactly as achieved in Week 3.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1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Final deliverable: an animated "warming stripes" heatmap that clearly communicates long-term temperature change across countries and decades.</a:t>
            </a:r>
          </a:p>
          <a:p>
            <a:pPr algn="l">
              <a:lnSpc>
                <a:spcPts val="4235"/>
              </a:lnSpc>
              <a:spcAft>
                <a:spcPts val="1000"/>
              </a:spcAft>
            </a:pP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  <a:sym typeface="Poppins Italics" panose="0000050000000000000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Expected Final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Oval 7"/>
          <p:cNvSpPr/>
          <p:nvPr/>
        </p:nvSpPr>
        <p:spPr>
          <a:xfrm>
            <a:off x="543373" y="3359440"/>
            <a:ext cx="1916458" cy="1916458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303816" y="3187394"/>
            <a:ext cx="2395573" cy="2260550"/>
          </a:xfrm>
          <a:custGeom>
            <a:avLst/>
            <a:gdLst/>
            <a:ahLst/>
            <a:cxnLst/>
            <a:rect l="l" t="t" r="r" b="b"/>
            <a:pathLst>
              <a:path w="2395573" h="2260550">
                <a:moveTo>
                  <a:pt x="0" y="0"/>
                </a:moveTo>
                <a:lnTo>
                  <a:pt x="2395573" y="0"/>
                </a:lnTo>
                <a:lnTo>
                  <a:pt x="2395573" y="2260550"/>
                </a:lnTo>
                <a:lnTo>
                  <a:pt x="0" y="2260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415445"/>
              </p:ext>
            </p:extLst>
          </p:nvPr>
        </p:nvGraphicFramePr>
        <p:xfrm>
          <a:off x="3352800" y="3467100"/>
          <a:ext cx="12730385" cy="5358015"/>
        </p:xfrm>
        <a:graphic>
          <a:graphicData uri="http://schemas.openxmlformats.org/drawingml/2006/table">
            <a:tbl>
              <a:tblPr/>
              <a:tblGrid>
                <a:gridCol w="65016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87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22412"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dirty="0">
                          <a:solidFill>
                            <a:srgbClr val="000000"/>
                          </a:solidFill>
                          <a:latin typeface="Poppins" panose="00000500000000000000"/>
                          <a:ea typeface="Poppins" panose="00000500000000000000"/>
                          <a:cs typeface="Poppins" panose="00000500000000000000"/>
                          <a:sym typeface="Poppins" panose="00000500000000000000"/>
                        </a:rPr>
                        <a:t>Team Member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340"/>
                        </a:lnSpc>
                        <a:defRPr/>
                      </a:pPr>
                      <a:r>
                        <a:rPr lang="en-US" sz="3100">
                          <a:solidFill>
                            <a:srgbClr val="000000"/>
                          </a:solidFill>
                          <a:latin typeface="Poppins" panose="00000500000000000000"/>
                          <a:ea typeface="Poppins" panose="00000500000000000000"/>
                          <a:cs typeface="Poppins" panose="00000500000000000000"/>
                          <a:sym typeface="Poppins" panose="00000500000000000000"/>
                        </a:rPr>
                        <a:t>Roles &amp; Responsibilities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0453">
                <a:tc>
                  <a:txBody>
                    <a:bodyPr/>
                    <a:lstStyle/>
                    <a:p>
                      <a:r>
                        <a:rPr lang="en-US" dirty="0"/>
                        <a:t>V Jayavanadhi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Analyst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6940">
                <a:tc>
                  <a:txBody>
                    <a:bodyPr/>
                    <a:lstStyle/>
                    <a:p>
                      <a:r>
                        <a:rPr lang="en-IN" dirty="0"/>
                        <a:t>Joyce Laetitia </a:t>
                      </a:r>
                      <a:r>
                        <a:rPr lang="en-IN" dirty="0" err="1"/>
                        <a:t>Malenou</a:t>
                      </a:r>
                      <a:r>
                        <a:rPr lang="en-IN" dirty="0"/>
                        <a:t> </a:t>
                      </a:r>
                      <a:r>
                        <a:rPr lang="en-IN" dirty="0" err="1"/>
                        <a:t>Weudji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Analyst &amp; Storyteller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02938">
                <a:tc>
                  <a:txBody>
                    <a:bodyPr/>
                    <a:lstStyle/>
                    <a:p>
                      <a:r>
                        <a:rPr lang="en-US" dirty="0"/>
                        <a:t>Gurupriya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 Engineer 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5272">
                <a:tc>
                  <a:txBody>
                    <a:bodyPr/>
                    <a:lstStyle/>
                    <a:p>
                      <a:r>
                        <a:rPr lang="en-US" dirty="0"/>
                        <a:t>Manoj SS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Visualization Expert</a:t>
                      </a:r>
                      <a:endParaRPr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Roles &amp; Responsibilities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8894" y="3308244"/>
            <a:ext cx="1799679" cy="1799679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233934" y="3093509"/>
            <a:ext cx="2249599" cy="2229148"/>
          </a:xfrm>
          <a:custGeom>
            <a:avLst/>
            <a:gdLst/>
            <a:ahLst/>
            <a:cxnLst/>
            <a:rect l="l" t="t" r="r" b="b"/>
            <a:pathLst>
              <a:path w="2249599" h="2229148">
                <a:moveTo>
                  <a:pt x="0" y="0"/>
                </a:moveTo>
                <a:lnTo>
                  <a:pt x="2249598" y="0"/>
                </a:lnTo>
                <a:lnTo>
                  <a:pt x="2249598" y="2229148"/>
                </a:lnTo>
                <a:lnTo>
                  <a:pt x="0" y="22291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2703883" y="2998259"/>
            <a:ext cx="15200000" cy="3218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35"/>
              </a:lnSpc>
              <a:spcAft>
                <a:spcPts val="1000"/>
              </a:spcAft>
            </a:pPr>
            <a:r>
              <a:rPr lang="en-US" sz="2600" b="1" i="0">
                <a:solidFill>
                  <a:srgbClr val="112D63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Here are the challenges we ran into along the way: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3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Missing values appeared in six columns, so we had to impute them carefully without distorting the real climate trends.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3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Some countries and years had far more records than others, so we averaged our comparisons instead of relying on raw counts.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3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We expected extreme outliers, so we tested every numeric column with both the IQR and Z-score methods; neither method flagged any value.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lang="en-US" sz="2000" b="0" i="0">
                <a:solidFill>
                  <a:srgbClr val="3F3F3F"/>
                </a:solidFill>
                <a:latin typeface="Calibri" panose="020F0502020204030204"/>
                <a:ea typeface="Poppins Italics" panose="00000500000000000000"/>
                <a:cs typeface="Poppins Italics" panose="00000500000000000000"/>
                <a:sym typeface="Poppins Italics" panose="00000500000000000000"/>
              </a:rPr>
              <a:t>Understanding 26 unlabeled columns with no data dictionary meant carefully inferring what each one measured before deciding how to clean it.</a:t>
            </a:r>
          </a:p>
          <a:p>
            <a:pPr marL="653415" lvl="1" indent="-32639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000" b="0" i="0">
                <a:solidFill>
                  <a:srgbClr val="3F3F3F"/>
                </a:solidFill>
                <a:latin typeface="Calibri" panose="020F0502020204030204"/>
              </a:rPr>
              <a:t>Coordinating GitHub uploads across the team took some early trial and error before our workflow settled.</a:t>
            </a:r>
          </a:p>
          <a:p>
            <a:pPr algn="l">
              <a:lnSpc>
                <a:spcPts val="4235"/>
              </a:lnSpc>
              <a:spcAft>
                <a:spcPts val="1000"/>
              </a:spcAft>
            </a:pPr>
            <a:endParaRPr lang="en-US" sz="3025" i="1">
              <a:solidFill>
                <a:srgbClr val="545454"/>
              </a:solidFill>
              <a:latin typeface="Poppins Italics" panose="00000500000000000000"/>
              <a:ea typeface="Poppins Italics" panose="00000500000000000000"/>
              <a:cs typeface="Poppins Italics" panose="00000500000000000000"/>
              <a:sym typeface="Poppins Italics" panose="0000050000000000000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 Challenges Faced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9017" y="4236966"/>
            <a:ext cx="1947649" cy="1947649"/>
          </a:xfrm>
          <a:prstGeom prst="ellipse">
            <a:avLst/>
          </a:prstGeom>
          <a:solidFill>
            <a:srgbClr val="FC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229502" y="3993509"/>
            <a:ext cx="2186679" cy="2434562"/>
          </a:xfrm>
          <a:custGeom>
            <a:avLst/>
            <a:gdLst/>
            <a:ahLst/>
            <a:cxnLst/>
            <a:rect l="l" t="t" r="r" b="b"/>
            <a:pathLst>
              <a:path w="2186679" h="2434562">
                <a:moveTo>
                  <a:pt x="0" y="0"/>
                </a:moveTo>
                <a:lnTo>
                  <a:pt x="2186679" y="0"/>
                </a:lnTo>
                <a:lnTo>
                  <a:pt x="2186679" y="2434562"/>
                </a:lnTo>
                <a:lnTo>
                  <a:pt x="0" y="24345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Future Work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0631" y="4200000"/>
            <a:ext cx="152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4235"/>
              </a:lnSpc>
              <a:spcAft>
                <a:spcPts val="1000"/>
              </a:spcAft>
            </a:pPr>
            <a:r>
              <a:rPr lang="en-US" sz="2600" b="1">
                <a:solidFill>
                  <a:srgbClr val="112D63"/>
                </a:solidFill>
                <a:latin typeface="Calibri" panose="020F0502020204030204"/>
              </a:rPr>
              <a:t>Where we stand, and what's next:</a:t>
            </a:r>
          </a:p>
          <a:p>
            <a:pPr algn="l">
              <a:lnSpc>
                <a:spcPts val="4235"/>
              </a:lnSpc>
              <a:spcAft>
                <a:spcPts val="1000"/>
              </a:spcAft>
              <a:buNone/>
            </a:pPr>
            <a:r>
              <a:rPr sz="2200" b="0" i="0">
                <a:solidFill>
                  <a:srgbClr val="3F3F3F"/>
                </a:solidFill>
                <a:latin typeface="Calibri" panose="020F0502020204030204"/>
              </a:rPr>
              <a:t>Weeks 5 and 6 will focus on feature engineering (scaling and encoding) and building the final animated heatmap.</a:t>
            </a:r>
          </a:p>
          <a:p>
            <a:pPr algn="l">
              <a:lnSpc>
                <a:spcPts val="4235"/>
              </a:lnSpc>
              <a:spcAft>
                <a:spcPts val="1000"/>
              </a:spcAft>
              <a:buNone/>
            </a:pPr>
            <a:endParaRPr sz="2200" b="0" i="0">
              <a:solidFill>
                <a:srgbClr val="3F3F3F"/>
              </a:solidFill>
              <a:latin typeface="Calibri" panose="020F0502020204030204"/>
            </a:endParaRPr>
          </a:p>
          <a:p>
            <a:pPr algn="l">
              <a:lnSpc>
                <a:spcPts val="4235"/>
              </a:lnSpc>
              <a:spcAft>
                <a:spcPts val="1000"/>
              </a:spcAft>
              <a:buNone/>
            </a:pPr>
            <a:r>
              <a:rPr sz="2200" b="0" i="0">
                <a:solidFill>
                  <a:srgbClr val="3F3F3F"/>
                </a:solidFill>
                <a:latin typeface="Calibri" panose="020F0502020204030204"/>
              </a:rPr>
              <a:t>Overall, the project has successfully cleaned and explored a 100,000-record climate dataset through Week 4, giving a clear picture of how temperature anomalies are distributed across countries and decades, a solid, reliable foundation for the final visual story of global warming.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60631" y="8000000"/>
            <a:ext cx="4666666" cy="13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0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Missing values remaining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7297" y="8000000"/>
            <a:ext cx="4666666" cy="13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100,000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Records cleaned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93963" y="8000000"/>
            <a:ext cx="4666666" cy="1300000"/>
          </a:xfrm>
          <a:prstGeom prst="roundRect">
            <a:avLst>
              <a:gd name="adj" fmla="val 8000"/>
            </a:avLst>
          </a:prstGeom>
          <a:solidFill>
            <a:srgbClr val="F4F8FD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120000" rIns="60000" rtlCol="0" anchor="ctr"/>
          <a:lstStyle/>
          <a:p>
            <a:pPr algn="ctr"/>
            <a:r>
              <a:rPr sz="3000" b="1">
                <a:solidFill>
                  <a:srgbClr val="112D63"/>
                </a:solidFill>
                <a:latin typeface="Calibri" panose="020F0502020204030204"/>
              </a:rPr>
              <a:t>4</a:t>
            </a:r>
          </a:p>
          <a:p>
            <a:pPr algn="ctr"/>
            <a:r>
              <a:rPr sz="1400" b="0">
                <a:solidFill>
                  <a:srgbClr val="5A6472"/>
                </a:solidFill>
                <a:latin typeface="Calibri" panose="020F0502020204030204"/>
              </a:rPr>
              <a:t>Weeks completed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0631" y="3900000"/>
            <a:ext cx="152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600" b="0" i="0">
                <a:solidFill>
                  <a:srgbClr val="3F3F3F"/>
                </a:solidFill>
                <a:latin typeface="Calibri" panose="020F0502020204030204"/>
              </a:rPr>
              <a:t>Global Warming Dataset: 195 Countries (1900-2023), Kaggle, by ankushpanday1</a:t>
            </a:r>
          </a:p>
          <a:p>
            <a:pPr marL="457200" indent="-45720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600" b="0" i="0">
                <a:solidFill>
                  <a:srgbClr val="3F3F3F"/>
                </a:solidFill>
                <a:latin typeface="Calibri" panose="020F0502020204030204"/>
              </a:rPr>
              <a:t>Pandas Documentation: pandas.pydata.org</a:t>
            </a:r>
          </a:p>
          <a:p>
            <a:pPr marL="457200" indent="-45720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600" b="0" i="0">
                <a:solidFill>
                  <a:srgbClr val="3F3F3F"/>
                </a:solidFill>
                <a:latin typeface="Calibri" panose="020F0502020204030204"/>
              </a:rPr>
              <a:t>Matplotlib Documentation: matplotlib.org</a:t>
            </a:r>
          </a:p>
          <a:p>
            <a:pPr marL="457200" indent="-45720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600" b="0" i="0">
                <a:solidFill>
                  <a:srgbClr val="3F3F3F"/>
                </a:solidFill>
                <a:latin typeface="Calibri" panose="020F0502020204030204"/>
              </a:rPr>
              <a:t>Seaborn Documentation: seaborn.pydata.org</a:t>
            </a:r>
          </a:p>
          <a:p>
            <a:pPr marL="457200" indent="-457200" algn="l">
              <a:lnSpc>
                <a:spcPts val="4235"/>
              </a:lnSpc>
              <a:spcAft>
                <a:spcPts val="1000"/>
              </a:spcAft>
              <a:buClr>
                <a:srgbClr val="E8622C"/>
              </a:buClr>
              <a:buFont typeface="Arial" panose="020B0604020202020204"/>
              <a:buChar char="•"/>
            </a:pPr>
            <a:r>
              <a:rPr sz="2600" b="0" i="0">
                <a:solidFill>
                  <a:srgbClr val="3F3F3F"/>
                </a:solidFill>
                <a:latin typeface="Calibri" panose="020F0502020204030204"/>
              </a:rPr>
              <a:t>SciPy Documentation (stats.zscore): scipy.org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Outlier Check: Boxplots (Week 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000" y="2900000"/>
            <a:ext cx="15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2D63"/>
                </a:solidFill>
                <a:latin typeface="Calibri" panose="020F0502020204030204"/>
              </a:rPr>
              <a:t>No points fall outside the whiskers in any column, so no outliers were found.</a:t>
            </a:r>
          </a:p>
        </p:txBody>
      </p:sp>
      <p:pic>
        <p:nvPicPr>
          <p:cNvPr id="11" name="Picture 10" descr="Boxplots of six numeric columns after clea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090" y="3750000"/>
            <a:ext cx="10093820" cy="56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EDA: Univariate Analysis (Week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000" y="2900000"/>
            <a:ext cx="15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2D63"/>
                </a:solidFill>
                <a:latin typeface="Calibri" panose="020F0502020204030204"/>
              </a:rPr>
              <a:t>Temperature anomalies are spread evenly from −2 to +2, in both periods.</a:t>
            </a:r>
          </a:p>
        </p:txBody>
      </p:sp>
      <p:pic>
        <p:nvPicPr>
          <p:cNvPr id="11" name="Picture 10" descr="Histogram of temperature anomal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4263407"/>
            <a:ext cx="8444000" cy="4623185"/>
          </a:xfrm>
          <a:prstGeom prst="rect">
            <a:avLst/>
          </a:prstGeom>
        </p:spPr>
      </p:pic>
      <p:pic>
        <p:nvPicPr>
          <p:cNvPr id="12" name="Picture 11" descr="Violin plot of temperature anomaly by perio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4000" y="3968561"/>
            <a:ext cx="8444000" cy="52128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EDA: Trends Over Time (Week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000" y="2900000"/>
            <a:ext cx="15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2D63"/>
                </a:solidFill>
                <a:latin typeface="Calibri" panose="020F0502020204030204"/>
              </a:rPr>
              <a:t>The yearly mean anomaly stays within about ±0.1, with records spread evenly across decades.</a:t>
            </a:r>
          </a:p>
        </p:txBody>
      </p:sp>
      <p:pic>
        <p:nvPicPr>
          <p:cNvPr id="11" name="Picture 10" descr="Line chart of mean temperature anomaly by ye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4849115"/>
            <a:ext cx="8444000" cy="3451770"/>
          </a:xfrm>
          <a:prstGeom prst="rect">
            <a:avLst/>
          </a:prstGeom>
        </p:spPr>
      </p:pic>
      <p:pic>
        <p:nvPicPr>
          <p:cNvPr id="12" name="Picture 11" descr="Bar chart of records per deca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4000" y="4849115"/>
            <a:ext cx="8444000" cy="345177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76841"/>
            <a:ext cx="18288000" cy="2058570"/>
            <a:chOff x="0" y="0"/>
            <a:chExt cx="3738189" cy="4207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38189" cy="420785"/>
            </a:xfrm>
            <a:custGeom>
              <a:avLst/>
              <a:gdLst/>
              <a:ahLst/>
              <a:cxnLst/>
              <a:rect l="l" t="t" r="r" b="b"/>
              <a:pathLst>
                <a:path w="3738189" h="420785">
                  <a:moveTo>
                    <a:pt x="3534989" y="0"/>
                  </a:moveTo>
                  <a:lnTo>
                    <a:pt x="0" y="0"/>
                  </a:lnTo>
                  <a:lnTo>
                    <a:pt x="0" y="420785"/>
                  </a:lnTo>
                  <a:lnTo>
                    <a:pt x="3534989" y="420785"/>
                  </a:lnTo>
                  <a:lnTo>
                    <a:pt x="3738189" y="210393"/>
                  </a:lnTo>
                  <a:lnTo>
                    <a:pt x="3534989" y="0"/>
                  </a:lnTo>
                  <a:close/>
                </a:path>
              </a:pathLst>
            </a:custGeom>
            <a:solidFill>
              <a:srgbClr val="112D63"/>
            </a:solidFill>
            <a:ln w="19050" cap="sq">
              <a:solidFill>
                <a:srgbClr val="112D63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623889" cy="487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50000" y="2750000"/>
            <a:ext cx="17988000" cy="6950000"/>
          </a:xfrm>
          <a:prstGeom prst="roundRect">
            <a:avLst>
              <a:gd name="adj" fmla="val 3500"/>
            </a:avLst>
          </a:prstGeom>
          <a:solidFill>
            <a:srgbClr val="FBFDFF"/>
          </a:solidFill>
          <a:ln w="12700">
            <a:solidFill>
              <a:srgbClr val="E1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054565" y="985640"/>
            <a:ext cx="16178870" cy="1069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000" b="1">
                <a:solidFill>
                  <a:srgbClr val="FFFFFF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EDA: Bivariate Analysis (Week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000" y="2900000"/>
            <a:ext cx="15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2D63"/>
                </a:solidFill>
                <a:latin typeface="Calibri" panose="020F0502020204030204"/>
              </a:rPr>
              <a:t>Deforestation rate and biodiversity show no relationship; all correlations are close to zero.</a:t>
            </a:r>
          </a:p>
        </p:txBody>
      </p:sp>
      <p:pic>
        <p:nvPicPr>
          <p:cNvPr id="11" name="Picture 10" descr="Regression plot of deforestation rate against biodiversity inde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4069260"/>
            <a:ext cx="8444000" cy="5011479"/>
          </a:xfrm>
          <a:prstGeom prst="rect">
            <a:avLst/>
          </a:prstGeom>
        </p:spPr>
      </p:pic>
      <p:pic>
        <p:nvPicPr>
          <p:cNvPr id="12" name="Picture 11" descr="Correlation heatmap of eight climate variab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382" y="3750000"/>
            <a:ext cx="7657236" cy="565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230E0C5F7F31408C24F79FEC3547A8" ma:contentTypeVersion="30" ma:contentTypeDescription="Create a new document." ma:contentTypeScope="" ma:versionID="43aeafdb121866d4c41a050b1c0f9fb4">
  <xsd:schema xmlns:xsd="http://www.w3.org/2001/XMLSchema" xmlns:xs="http://www.w3.org/2001/XMLSchema" xmlns:p="http://schemas.microsoft.com/office/2006/metadata/properties" xmlns:ns2="f8f6405e-9d26-4665-a572-60b6287e955e" xmlns:ns3="75f1d1de-8b6f-4690-bd7e-4a7619080584" targetNamespace="http://schemas.microsoft.com/office/2006/metadata/properties" ma:root="true" ma:fieldsID="a188b3ef85d914b1f0b5272ad37f5517" ns2:_="" ns3:_="">
    <xsd:import namespace="f8f6405e-9d26-4665-a572-60b6287e955e"/>
    <xsd:import namespace="75f1d1de-8b6f-4690-bd7e-4a7619080584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f6405e-9d26-4665-a572-60b6287e955e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34" nillable="true" ma:taxonomy="true" ma:internalName="lcf76f155ced4ddcb4097134ff3c332f" ma:taxonomyFieldName="MediaServiceImageTags" ma:displayName="Image Tags" ma:readOnly="false" ma:fieldId="{5cf76f15-5ced-4ddc-b409-7134ff3c332f}" ma:taxonomyMulti="true" ma:sspId="6ea1b0d9-6ead-405e-a20d-02fb1ff691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f1d1de-8b6f-4690-bd7e-4a7619080584" elementFormDefault="qualified">
    <xsd:import namespace="http://schemas.microsoft.com/office/2006/documentManagement/types"/>
    <xsd:import namespace="http://schemas.microsoft.com/office/infopath/2007/PartnerControls"/>
    <xsd:element name="TaxCatchAll" ma:index="35" nillable="true" ma:displayName="Taxonomy Catch All Column" ma:hidden="true" ma:list="{38ee401d-fe31-4260-9afb-a78595968dbb}" ma:internalName="TaxCatchAll" ma:showField="CatchAllData" ma:web="75f1d1de-8b6f-4690-bd7e-4a76190805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8f6405e-9d26-4665-a572-60b6287e955e">
      <Terms xmlns="http://schemas.microsoft.com/office/infopath/2007/PartnerControls"/>
    </lcf76f155ced4ddcb4097134ff3c332f>
    <TaxCatchAll xmlns="75f1d1de-8b6f-4690-bd7e-4a7619080584" xsi:nil="true"/>
    <Self_Registration_Enabled xmlns="f8f6405e-9d26-4665-a572-60b6287e955e" xsi:nil="true"/>
    <Teachers xmlns="f8f6405e-9d26-4665-a572-60b6287e955e">
      <UserInfo>
        <DisplayName/>
        <AccountId xsi:nil="true"/>
        <AccountType/>
      </UserInfo>
    </Teachers>
    <Distribution_Groups xmlns="f8f6405e-9d26-4665-a572-60b6287e955e" xsi:nil="true"/>
    <Invited_Teachers xmlns="f8f6405e-9d26-4665-a572-60b6287e955e" xsi:nil="true"/>
    <IsNotebookLocked xmlns="f8f6405e-9d26-4665-a572-60b6287e955e" xsi:nil="true"/>
    <Is_Collaboration_Space_Locked xmlns="f8f6405e-9d26-4665-a572-60b6287e955e" xsi:nil="true"/>
    <Templates xmlns="f8f6405e-9d26-4665-a572-60b6287e955e" xsi:nil="true"/>
    <Has_Teacher_Only_SectionGroup xmlns="f8f6405e-9d26-4665-a572-60b6287e955e" xsi:nil="true"/>
    <FolderType xmlns="f8f6405e-9d26-4665-a572-60b6287e955e" xsi:nil="true"/>
    <CultureName xmlns="f8f6405e-9d26-4665-a572-60b6287e955e" xsi:nil="true"/>
    <LMS_Mappings xmlns="f8f6405e-9d26-4665-a572-60b6287e955e" xsi:nil="true"/>
    <NotebookType xmlns="f8f6405e-9d26-4665-a572-60b6287e955e" xsi:nil="true"/>
    <Teams_Channel_Section_Location xmlns="f8f6405e-9d26-4665-a572-60b6287e955e" xsi:nil="true"/>
    <Math_Settings xmlns="f8f6405e-9d26-4665-a572-60b6287e955e" xsi:nil="true"/>
    <Owner xmlns="f8f6405e-9d26-4665-a572-60b6287e955e">
      <UserInfo>
        <DisplayName/>
        <AccountId xsi:nil="true"/>
        <AccountType/>
      </UserInfo>
    </Owner>
    <Students xmlns="f8f6405e-9d26-4665-a572-60b6287e955e">
      <UserInfo>
        <DisplayName/>
        <AccountId xsi:nil="true"/>
        <AccountType/>
      </UserInfo>
    </Students>
    <Student_Groups xmlns="f8f6405e-9d26-4665-a572-60b6287e955e">
      <UserInfo>
        <DisplayName/>
        <AccountId xsi:nil="true"/>
        <AccountType/>
      </UserInfo>
    </Student_Groups>
    <AppVersion xmlns="f8f6405e-9d26-4665-a572-60b6287e955e" xsi:nil="true"/>
    <TeamsChannelId xmlns="f8f6405e-9d26-4665-a572-60b6287e955e" xsi:nil="true"/>
    <Invited_Students xmlns="f8f6405e-9d26-4665-a572-60b6287e955e" xsi:nil="true"/>
    <DefaultSectionNames xmlns="f8f6405e-9d26-4665-a572-60b6287e955e" xsi:nil="true"/>
  </documentManagement>
</p:properties>
</file>

<file path=customXml/itemProps1.xml><?xml version="1.0" encoding="utf-8"?>
<ds:datastoreItem xmlns:ds="http://schemas.openxmlformats.org/officeDocument/2006/customXml" ds:itemID="{933E3D7C-5C3D-4B60-9674-3050C6F34FEA}">
  <ds:schemaRefs/>
</ds:datastoreItem>
</file>

<file path=customXml/itemProps2.xml><?xml version="1.0" encoding="utf-8"?>
<ds:datastoreItem xmlns:ds="http://schemas.openxmlformats.org/officeDocument/2006/customXml" ds:itemID="{D0FDA871-35C3-49FC-BE2F-8D9ECBCC2D3E}">
  <ds:schemaRefs/>
</ds:datastoreItem>
</file>

<file path=customXml/itemProps3.xml><?xml version="1.0" encoding="utf-8"?>
<ds:datastoreItem xmlns:ds="http://schemas.openxmlformats.org/officeDocument/2006/customXml" ds:itemID="{5578F222-1B32-4B85-AB90-876A769BC140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1191</Words>
  <Application>Microsoft Office PowerPoint</Application>
  <PresentationFormat>Custom</PresentationFormat>
  <Paragraphs>134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Times New Roman Bold</vt:lpstr>
      <vt:lpstr>Poppins</vt:lpstr>
      <vt:lpstr>Times New Roman</vt:lpstr>
      <vt:lpstr>Poppins Bold Italics</vt:lpstr>
      <vt:lpstr>Arial</vt:lpstr>
      <vt:lpstr>Poppins Bold</vt:lpstr>
      <vt:lpstr>Poppins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and Visualization 24ADI204</dc:title>
  <dc:creator>Jayavanadhi V</dc:creator>
  <cp:lastModifiedBy>Jayavanadhi V</cp:lastModifiedBy>
  <cp:revision>102</cp:revision>
  <dcterms:created xsi:type="dcterms:W3CDTF">2006-08-16T00:00:00Z</dcterms:created>
  <dcterms:modified xsi:type="dcterms:W3CDTF">2026-10-13T09:46:01Z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0x0101004F230E0C5F7F31408C24F79FEC3547A8</vt:lpwstr>
  </property>
  <property fmtid="{D5CDD505-2E9C-101B-9397-08002B2CF9AE}" pid="3" name="MediaServiceImageTags">
    <vt:lpwstr/>
  </property>
  <property fmtid="{D5CDD505-2E9C-101B-9397-08002B2CF9AE}" pid="4" name="ICV">
    <vt:lpwstr>CE5637E3D5A449E3A139971C7E134D54_12</vt:lpwstr>
  </property>
  <property fmtid="{D5CDD505-2E9C-101B-9397-08002B2CF9AE}" pid="5" name="KSOProductBuildVer">
    <vt:lpwstr>1036-12.1.0.28485</vt:lpwstr>
  </property>
</Properties>
</file>