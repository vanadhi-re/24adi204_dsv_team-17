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300" r:id="rId5"/>
    <p:sldId id="301" r:id="rId6"/>
    <p:sldId id="302" r:id="rId7"/>
    <p:sldId id="303" r:id="rId9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13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15"/>
    <p:sldId id="334" r:id="rId18"/>
  </p:sldIdLst>
  <p:sldSz cx="18288000" cy="10287000"/>
  <p:notesSz cx="6858000" cy="9144000"/>
  <p:embeddedFontLst>
    <p:embeddedFont>
      <p:font typeface="Poppins" panose="00000500000000000000" pitchFamily="2" charset="0"/>
      <p:regular r:id="rId19"/>
    </p:embeddedFont>
    <p:embeddedFont>
      <p:font typeface="Poppins Bold" panose="020B0604020202020204" charset="0"/>
      <p:bold r:id="rId20"/>
    </p:embeddedFont>
    <p:embeddedFont>
      <p:font typeface="Poppins Bold Italics" panose="020B0604020202020204" charset="0"/>
      <p:boldItalic r:id="rId21"/>
    </p:embeddedFont>
    <p:embeddedFont>
      <p:font typeface="Poppins Italics" panose="020B0604020202020204" charset="0"/>
      <p:italic r:id="rId22"/>
    </p:embeddedFont>
    <p:embeddedFont>
      <p:font typeface="Times New Roman Bold" panose="02020803070505020304" pitchFamily="18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20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
<Relationships xmlns="http://schemas.openxmlformats.org/package/2006/relationships"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
<Relationships xmlns="http://schemas.openxmlformats.org/package/2006/relationships"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
<Relationships xmlns="http://schemas.openxmlformats.org/package/2006/relationships"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
<Relationships xmlns="http://schemas.openxmlformats.org/package/2006/relationships"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
<Relationships xmlns="http://schemas.openxmlformats.org/package/2006/relationships"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
<Relationships xmlns="http://schemas.openxmlformats.org/package/2006/relationships"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
<Relationships xmlns="http://schemas.openxmlformats.org/package/2006/relationships"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
<Relationships xmlns="http://schemas.openxmlformats.org/package/2006/relationships"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" y="190500"/>
            <a:ext cx="1299889" cy="1278575"/>
          </a:xfrm>
          <a:custGeom>
            <a:avLst/>
            <a:gdLst/>
            <a:ahLst/>
            <a:cxnLst/>
            <a:rect l="l" t="t" r="r" b="b"/>
            <a:pathLst>
              <a:path w="2488943" h="2529537">
                <a:moveTo>
                  <a:pt x="0" y="0"/>
                </a:moveTo>
                <a:lnTo>
                  <a:pt x="2488944" y="0"/>
                </a:lnTo>
                <a:lnTo>
                  <a:pt x="2488944" y="2529538"/>
                </a:lnTo>
                <a:lnTo>
                  <a:pt x="0" y="252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0" t="-4622" r="-22184" b="-296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737790" y="190500"/>
            <a:ext cx="2519089" cy="945897"/>
          </a:xfrm>
          <a:custGeom>
            <a:avLst/>
            <a:gdLst/>
            <a:ahLst/>
            <a:cxnLst/>
            <a:rect l="l" t="t" r="r" b="b"/>
            <a:pathLst>
              <a:path w="4049893" h="1883200">
                <a:moveTo>
                  <a:pt x="0" y="0"/>
                </a:moveTo>
                <a:lnTo>
                  <a:pt x="4049893" y="0"/>
                </a:lnTo>
                <a:lnTo>
                  <a:pt x="4049893" y="1883200"/>
                </a:lnTo>
                <a:lnTo>
                  <a:pt x="0" y="188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231061" y="534627"/>
            <a:ext cx="11180668" cy="250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5"/>
              </a:lnSpc>
            </a:pPr>
            <a:r>
              <a:rPr lang="en-US" sz="42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Artificial Intelligence and Data Science</a:t>
            </a:r>
          </a:p>
          <a:p>
            <a:pPr algn="ctr">
              <a:lnSpc>
                <a:spcPts val="6435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 Science and Visualization</a:t>
            </a:r>
          </a:p>
          <a:p>
            <a:pPr algn="ctr">
              <a:lnSpc>
                <a:spcPts val="6435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24ADI204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19804" y="3862505"/>
            <a:ext cx="10410901" cy="126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5"/>
              </a:lnSpc>
            </a:pPr>
            <a:r>
              <a:rPr lang="en-US" sz="3560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 Italics" panose="00000800000000000000"/>
                <a:cs typeface="Times New Roman" panose="02020603050405020304" pitchFamily="18" charset="0"/>
                <a:sym typeface="Poppins Bold Italics" panose="00000800000000000000"/>
              </a:rPr>
              <a:t>DATA-VIZ HACK-A-BIT (2026-2027) </a:t>
            </a:r>
          </a:p>
          <a:p>
            <a:pPr algn="ctr">
              <a:lnSpc>
                <a:spcPts val="4985"/>
              </a:lnSpc>
              <a:spcBef>
                <a:spcPct val="0"/>
              </a:spcBef>
            </a:pPr>
            <a:endParaRPr lang="en-US" sz="3560" b="1" i="1" dirty="0">
              <a:solidFill>
                <a:srgbClr val="000000"/>
              </a:solidFill>
              <a:latin typeface="Poppins Bold Italics" panose="00000800000000000000"/>
              <a:ea typeface="Poppins Bold Italics" panose="00000800000000000000"/>
              <a:cs typeface="Poppins Bold Italics" panose="00000800000000000000"/>
              <a:sym typeface="Poppins Bold Italics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08777" y="6007337"/>
            <a:ext cx="4887823" cy="620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5"/>
              </a:lnSpc>
              <a:spcBef>
                <a:spcPct val="0"/>
              </a:spcBef>
            </a:pPr>
            <a:r>
              <a:rPr lang="en-US" sz="3620" dirty="0">
                <a:solidFill>
                  <a:srgbClr val="000000"/>
                </a:solidFill>
                <a:latin typeface="Times New Roman" panose="02020603050405020304" pitchFamily="18" charset="0"/>
                <a:ea typeface="Poppins" panose="00000500000000000000"/>
                <a:cs typeface="Times New Roman" panose="02020603050405020304" pitchFamily="18" charset="0"/>
                <a:sym typeface="Poppins" panose="00000500000000000000"/>
              </a:rPr>
              <a:t>Team Number: 17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7800" y="4905918"/>
            <a:ext cx="632460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PROJECT REVIEW (October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1061" y="6850000"/>
            <a:ext cx="11180668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35"/>
              </a:lnSpc>
              <a:buNone/>
            </a:pPr>
            <a:r>
              <a:rPr sz="3000" b="1" i="1">
                <a:solidFill>
                  <a:srgbClr val="112D63"/>
                </a:solidFill>
                <a:latin typeface="Times New Roman" panose="02020603050405020304"/>
              </a:rPr>
              <a:t>"The Heat Is On: A Visual Timeline of Global Warming"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000" y="7750000"/>
            <a:ext cx="547454" cy="500000"/>
          </a:xfrm>
          <a:prstGeom prst="rect">
            <a:avLst/>
          </a:prstGeom>
          <a:solidFill>
            <a:srgbClr val="083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89454" y="7750000"/>
            <a:ext cx="547454" cy="5000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34908" y="7750000"/>
            <a:ext cx="547454" cy="500000"/>
          </a:xfrm>
          <a:prstGeom prst="rect">
            <a:avLst/>
          </a:prstGeom>
          <a:solidFill>
            <a:srgbClr val="439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80362" y="7750000"/>
            <a:ext cx="547454" cy="500000"/>
          </a:xfrm>
          <a:prstGeom prst="rect">
            <a:avLst/>
          </a:prstGeom>
          <a:solidFill>
            <a:srgbClr val="92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5816" y="7750000"/>
            <a:ext cx="547454" cy="500000"/>
          </a:xfrm>
          <a:prstGeom prst="rect">
            <a:avLst/>
          </a:prstGeom>
          <a:solidFill>
            <a:srgbClr val="D1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71270" y="7750000"/>
            <a:ext cx="547454" cy="50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16724" y="7750000"/>
            <a:ext cx="547454" cy="500000"/>
          </a:xfrm>
          <a:prstGeom prst="rect">
            <a:avLst/>
          </a:prstGeom>
          <a:solidFill>
            <a:srgbClr val="FD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62178" y="7750000"/>
            <a:ext cx="547454" cy="500000"/>
          </a:xfrm>
          <a:prstGeom prst="rect">
            <a:avLst/>
          </a:prstGeom>
          <a:solidFill>
            <a:srgbClr val="F4A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507632" y="7750000"/>
            <a:ext cx="547454" cy="500000"/>
          </a:xfrm>
          <a:prstGeom prst="rect">
            <a:avLst/>
          </a:prstGeom>
          <a:solidFill>
            <a:srgbClr val="D66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053086" y="7750000"/>
            <a:ext cx="547454" cy="50000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598540" y="7750000"/>
            <a:ext cx="547454" cy="500000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000" y="831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08080"/>
                </a:solidFill>
                <a:latin typeface="Calibri" panose="020F0502020204030204"/>
              </a:rPr>
              <a:t>Preview of the final “warming stripes” visualization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Problem Statement </a:t>
            </a:r>
          </a:p>
        </p:txBody>
      </p:sp>
      <p:sp>
        <p:nvSpPr>
          <p:cNvPr id="9" name="Oval 8"/>
          <p:cNvSpPr/>
          <p:nvPr/>
        </p:nvSpPr>
        <p:spPr>
          <a:xfrm>
            <a:off x="925233" y="4366971"/>
            <a:ext cx="1524862" cy="1524862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734625" y="4263003"/>
            <a:ext cx="1906078" cy="1732798"/>
          </a:xfrm>
          <a:custGeom>
            <a:avLst/>
            <a:gdLst/>
            <a:ahLst/>
            <a:cxnLst/>
            <a:rect l="l" t="t" r="r" b="b"/>
            <a:pathLst>
              <a:path w="1906078" h="1732798">
                <a:moveTo>
                  <a:pt x="0" y="0"/>
                </a:moveTo>
                <a:lnTo>
                  <a:pt x="1906078" y="0"/>
                </a:lnTo>
                <a:lnTo>
                  <a:pt x="1906078" y="1732798"/>
                </a:lnTo>
                <a:lnTo>
                  <a:pt x="0" y="1732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860631" y="4131254"/>
            <a:ext cx="15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35"/>
              </a:lnSpc>
              <a:spcAft>
                <a:spcPts val="1000"/>
              </a:spcAft>
            </a:pPr>
            <a:r>
              <a:rPr lang="en-US" sz="2600" b="1">
                <a:solidFill>
                  <a:srgbClr val="112D63"/>
                </a:solidFill>
                <a:latin typeface="Calibri" panose="020F0502020204030204"/>
              </a:rPr>
              <a:t>Why this project matters:</a:t>
            </a:r>
          </a:p>
          <a:p>
            <a:pPr algn="l">
              <a:lnSpc>
                <a:spcPts val="4235"/>
              </a:lnSpc>
              <a:spcAft>
                <a:spcPts val="1000"/>
              </a:spcAft>
              <a:buNone/>
            </a:pPr>
            <a:r>
              <a:rPr sz="2500" b="0" i="0">
                <a:solidFill>
                  <a:srgbClr val="3F3F3F"/>
                </a:solidFill>
                <a:latin typeface="Calibri" panose="020F0502020204030204"/>
              </a:rPr>
              <a:t>Rising global temperatures are reshaping weather, sea levels and ecosystems, but the scale of this change is hard to grasp from raw numbers alone.</a:t>
            </a:r>
          </a:p>
          <a:p>
            <a:pPr algn="l">
              <a:lnSpc>
                <a:spcPts val="4235"/>
              </a:lnSpc>
              <a:spcAft>
                <a:spcPts val="1000"/>
              </a:spcAft>
              <a:buNone/>
            </a:pPr>
            <a:endParaRPr sz="2500" b="0" i="0">
              <a:solidFill>
                <a:srgbClr val="3F3F3F"/>
              </a:solidFill>
              <a:latin typeface="Calibri" panose="020F0502020204030204"/>
            </a:endParaRPr>
          </a:p>
          <a:p>
            <a:pPr algn="l">
              <a:lnSpc>
                <a:spcPts val="4235"/>
              </a:lnSpc>
              <a:spcAft>
                <a:spcPts val="1000"/>
              </a:spcAft>
              <a:buNone/>
            </a:pPr>
            <a:r>
              <a:rPr sz="2500" b="0" i="0">
                <a:solidFill>
                  <a:srgbClr val="3F3F3F"/>
                </a:solidFill>
                <a:latin typeface="Calibri" panose="020F0502020204030204"/>
              </a:rPr>
              <a:t>This project uses 124 years of country-level climate data (1900-2023) to examine, in a clear visual way, how temperature anomalies have changed over time and across countries.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0631" y="8000000"/>
            <a:ext cx="4333333" cy="13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1900–2023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Years of climate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43964" y="8000000"/>
            <a:ext cx="4333333" cy="13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195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Countries covered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27297" y="8000000"/>
            <a:ext cx="4333333" cy="13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100,000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Records analyzed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Project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60631" y="4607276"/>
            <a:ext cx="15400000" cy="505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 explore historical temperature anomaly data from 1900 to 2023 across 195 countries.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 look for long-term trends and patterns across countries and decades.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 clean the dataset thoroughly, handling missing values and outliers so the analysis stays reliable.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 aim to build a clear, animated "warming stripes" visualization that communicates climate change simply.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500" b="0" i="0">
                <a:solidFill>
                  <a:srgbClr val="3F3F3F"/>
                </a:solidFill>
                <a:latin typeface="Calibri" panose="020F0502020204030204"/>
              </a:rPr>
              <a:t>We document our process clearly each week so our GitHub repo tells the full story of the project.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901573" y="4198124"/>
            <a:ext cx="1462556" cy="1462556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718753" y="4015304"/>
            <a:ext cx="1828196" cy="1828196"/>
          </a:xfrm>
          <a:custGeom>
            <a:avLst/>
            <a:gdLst/>
            <a:ahLst/>
            <a:cxnLst/>
            <a:rect l="l" t="t" r="r" b="b"/>
            <a:pathLst>
              <a:path w="1828196" h="1828196">
                <a:moveTo>
                  <a:pt x="0" y="0"/>
                </a:moveTo>
                <a:lnTo>
                  <a:pt x="1828196" y="0"/>
                </a:lnTo>
                <a:lnTo>
                  <a:pt x="1828196" y="1828196"/>
                </a:lnTo>
                <a:lnTo>
                  <a:pt x="0" y="1828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Dataset Description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06709" y="3231254"/>
            <a:ext cx="15200000" cy="374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+mn-lt"/>
                <a:cs typeface="Poppins Italics" panose="00000500000000000000"/>
              </a:rPr>
              <a:t>Here are the key details of our dataset:</a:t>
            </a:r>
            <a:endParaRPr lang="en-US"/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200" b="0" i="0">
                <a:solidFill>
                  <a:srgbClr val="3F3F3F"/>
                </a:solidFill>
                <a:latin typeface="Calibri" panose="020F0502020204030204"/>
                <a:ea typeface="+mn-lt"/>
                <a:cs typeface="Poppins Italics" panose="00000500000000000000"/>
                <a:sym typeface="Poppins Italics" panose="00000500000000000000"/>
              </a:rPr>
              <a:t>The dataset is a structured CSV file from Kaggle: Global Warming Dataset, 195 Countries (1900-2023).</a:t>
            </a:r>
            <a:endParaRPr lang="en-US" sz="3000" i="1">
              <a:solidFill>
                <a:srgbClr val="545454"/>
              </a:solidFill>
              <a:latin typeface="Poppins Italics" panose="00000500000000000000"/>
              <a:ea typeface="Calibri" panose="020F0502020204030204"/>
              <a:cs typeface="Poppins Italics" panose="00000500000000000000"/>
            </a:endParaRPr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200" b="0" i="0">
                <a:solidFill>
                  <a:srgbClr val="3F3F3F"/>
                </a:solidFill>
                <a:latin typeface="Calibri" panose="020F0502020204030204"/>
                <a:ea typeface="+mn-lt"/>
                <a:cs typeface="Poppins Italics" panose="00000500000000000000"/>
                <a:sym typeface="Poppins Italics" panose="00000500000000000000"/>
              </a:rPr>
              <a:t>The variable we study most closely throughout the project is Temperature_Anomaly.</a:t>
            </a:r>
            <a:endParaRPr lang="en-US" sz="3000" i="1">
              <a:solidFill>
                <a:srgbClr val="545454"/>
              </a:solidFill>
              <a:latin typeface="Poppins Italics" panose="00000500000000000000"/>
              <a:ea typeface="+mn-lt"/>
              <a:cs typeface="Poppins Italics" panose="00000500000000000000"/>
            </a:endParaRPr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200" b="0" i="0">
                <a:solidFill>
                  <a:srgbClr val="3F3F3F"/>
                </a:solidFill>
                <a:latin typeface="Calibri" panose="020F0502020204030204"/>
              </a:rPr>
              <a:t>The data is structured and almost entirely numeric, with Country as the only categorical field.</a:t>
            </a:r>
            <a:endParaRPr lang="en-US" sz="3000" i="1">
              <a:solidFill>
                <a:srgbClr val="545454"/>
              </a:solidFill>
              <a:latin typeface="Poppins Italics" panose="00000500000000000000"/>
              <a:ea typeface="+mn-lt"/>
              <a:cs typeface="Poppins Italics" panose="00000500000000000000"/>
            </a:endParaRP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745662" y="3482682"/>
            <a:ext cx="1249424" cy="124942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89484" y="3326504"/>
            <a:ext cx="1561780" cy="1561780"/>
          </a:xfrm>
          <a:custGeom>
            <a:avLst/>
            <a:gdLst/>
            <a:ahLst/>
            <a:cxnLst/>
            <a:rect l="l" t="t" r="r" b="b"/>
            <a:pathLst>
              <a:path w="1561780" h="1561780">
                <a:moveTo>
                  <a:pt x="0" y="0"/>
                </a:moveTo>
                <a:lnTo>
                  <a:pt x="1561781" y="0"/>
                </a:lnTo>
                <a:lnTo>
                  <a:pt x="1561781" y="1561780"/>
                </a:lnTo>
                <a:lnTo>
                  <a:pt x="0" y="1561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2406709" y="6750000"/>
            <a:ext cx="3612500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100,000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9209" y="6750000"/>
            <a:ext cx="3612500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195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Countries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31709" y="6750000"/>
            <a:ext cx="3612500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26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94209" y="6750000"/>
            <a:ext cx="3612500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1900–2023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Years covered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Data Quality &amp; EDA Dashboard (Weeks 1–4)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A quick snapshot of the dataset we cleaned and explored in Weeks 1–4:</a:t>
            </a:r>
          </a:p>
        </p:txBody>
      </p:sp>
      <p:pic>
        <p:nvPicPr>
          <p:cNvPr id="11" name="Picture 10" descr="dashbo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145" y="3600000"/>
            <a:ext cx="8465709" cy="57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Oval 7"/>
          <p:cNvSpPr/>
          <p:nvPr/>
        </p:nvSpPr>
        <p:spPr>
          <a:xfrm>
            <a:off x="543373" y="3359440"/>
            <a:ext cx="1916458" cy="1916458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303816" y="3187394"/>
            <a:ext cx="2395573" cy="2260550"/>
          </a:xfrm>
          <a:custGeom>
            <a:avLst/>
            <a:gdLst/>
            <a:ahLst/>
            <a:cxnLst/>
            <a:rect l="l" t="t" r="r" b="b"/>
            <a:pathLst>
              <a:path w="2395573" h="2260550">
                <a:moveTo>
                  <a:pt x="0" y="0"/>
                </a:moveTo>
                <a:lnTo>
                  <a:pt x="2395573" y="0"/>
                </a:lnTo>
                <a:lnTo>
                  <a:pt x="2395573" y="2260550"/>
                </a:lnTo>
                <a:lnTo>
                  <a:pt x="0" y="2260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415445"/>
              </p:ext>
            </p:extLst>
          </p:nvPr>
        </p:nvGraphicFramePr>
        <p:xfrm>
          <a:off x="3352800" y="3467100"/>
          <a:ext cx="12730385" cy="5358015"/>
        </p:xfrm>
        <a:graphic>
          <a:graphicData uri="http://schemas.openxmlformats.org/drawingml/2006/table">
            <a:tbl>
              <a:tblPr/>
              <a:tblGrid>
                <a:gridCol w="650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2412"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Team Member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Roles &amp; Responsibilities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453">
                <a:tc>
                  <a:txBody>
                    <a:bodyPr/>
                    <a:lstStyle/>
                    <a:p>
                      <a:r>
                        <a:rPr lang="en-US" dirty="0"/>
                        <a:t>V Jayavanadhi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Analyst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940">
                <a:tc>
                  <a:txBody>
                    <a:bodyPr/>
                    <a:lstStyle/>
                    <a:p>
                      <a:r>
                        <a:rPr lang="en-IN" dirty="0"/>
                        <a:t>Joyce Laetitia </a:t>
                      </a:r>
                      <a:r>
                        <a:rPr lang="en-IN" dirty="0" err="1"/>
                        <a:t>Malenou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Weudji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Analyst &amp; Storyteller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2938">
                <a:tc>
                  <a:txBody>
                    <a:bodyPr/>
                    <a:lstStyle/>
                    <a:p>
                      <a:r>
                        <a:rPr lang="en-US" dirty="0"/>
                        <a:t>Gurupriya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Engineer 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272">
                <a:tc>
                  <a:txBody>
                    <a:bodyPr/>
                    <a:lstStyle/>
                    <a:p>
                      <a:r>
                        <a:rPr lang="en-US" dirty="0"/>
                        <a:t>Manoj SS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Visualization Expert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Roles &amp; Responsibilities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0631" y="3900000"/>
            <a:ext cx="152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Global Warming Dataset: 195 Countries (1900-2023), Kaggle, by ankushpanday1</a:t>
            </a:r>
          </a:p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Pandas Documentation: pandas.pydata.org</a:t>
            </a:r>
          </a:p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Matplotlib Documentation: matplotlib.org</a:t>
            </a:r>
          </a:p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Seaborn Documentation: seaborn.pydata.org</a:t>
            </a:r>
          </a:p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SciPy Documentation (stats.zscore): scipy.org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we did each week: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Week 1: selected the Kaggle Global Warming dataset and set up the GitHub repository.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Week 2: data quality report covering structure, data types, missing values and duplicates.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Week 3: cleaning with median imputation, plus IQR and Z-score outlier checks.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Week 4: exploratory data analysis with 30 visualizations.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Week 6: feature engineering: skewness check, scaling and encoding.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Week 7: correlation analysis and PCA.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Project Workflow (Weeks 1 to 7)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we did: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Chose the topic: global temperature anomalies, told as a visual timeline of global warming.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Selected the Kaggle dataset 'Global Warming Dataset: 195 Countries (1900-2023)'.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Defined the problem statement, the objectives and the scope of the project.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Set up the GitHub repository, with one folder for each week's work.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Chose the tools: Python with Pandas, NumPy, Matplotlib, Seaborn and Scikit-learn in Google Colab.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1: Dataset Selection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we did: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Loaded the CSV file into a Pandas DataFrame and checked its shape, column names and data types.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Counted missing values in every column and worked out the percentage missing.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Checked for exact duplicate rows and for repeated Country-Year pairs.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Produced summary statistics for every numeric column: mean, standard deviation, minimum, quartiles, maximum.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Validated value ranges: no negative values where impossible, percentages between 0 and 100, years 1900 to 2023.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Put the results together as the data quality report used to plan the cleaning.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2: Know Your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the first check of the raw data showed: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100,000 rows and 26 columns: 25 numeric and 1 categorical (Country).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12,000 missing cells: 2,000 (2%) in each of six columns.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0 exact duplicate rows.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No negative values where they are impossible, and no percentage outside 0 to 100.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195 countries, and every year from 1900 to 2023 is present.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Some Country-Year pairs repeat with different values; we kept them.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2: Data Quality Report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How we cleaned the data: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Missing values were filled with the column median: 12,000 missing cells before, 0 after.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 chose the median because it is not affected by extreme values.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Every numeric column was tested for outliers with IQR and Z-score (threshold 3): 0 found.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Negative average temperatures were kept, because they are valid in degrees Celsius.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No rows were removed: 100,000 records before and after cleaning.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3: Cleaning Sprint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The two methods we used: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IQR method: IQR = Q3 − Q1, where Q1 and Q3 are the 25th and 75th percentiles.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A value is an outlier if it is below Q1 − 1.5 × IQR or above Q3 + 1.5 × IQR.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Z-score method: Z = (value − mean) ÷ standard deviation.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A value is an outlier if its Z-score is above 3 or below −3.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 used both methods so that one confirms the other; both gave 0 outliers.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Boxplots were drawn for six key columns as a visual check.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3: Outlier Detection Methods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3: Outlier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Boxplots: no points fall outside the whiskers, so there are no outliers.</a:t>
            </a:r>
          </a:p>
        </p:txBody>
      </p:sp>
      <p:pic>
        <p:nvPicPr>
          <p:cNvPr id="11" name="Picture 10" descr="fix_w3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775" y="3650000"/>
            <a:ext cx="10540449" cy="590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we did: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Loaded the cleaned dataset (100,000 rows, 26 columns, 0 missing values).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Built 30 visualizations with Matplotlib and Seaborn, each of a different chart type.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Univariate analysis: histogram, KDE, boxplot, violin and ECDF to see how single variables are distributed.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Bivariate analysis: scatter, regression, hexbin and joint plots to see how two variables relate.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Time analysis: line, step and area charts of yearly averages from 1900 to 2023.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Multivariate analysis: correlation heatmaps, pair plot and parallel coordinates.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For large scatter plots we used random samples so that the pattern stays readable.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4: Exploratory Data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Each group of plots answers one question: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How are temperature anomalies distributed?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Has the average anomaly changed over time?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Do some countries show higher anomalies than others?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Do CO2, methane or average temperature move with the anomaly?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How are the other indicators spread, and do they change over the century?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Is energy use different at different anomaly levels?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Which variables are correlated with each other?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4: Questions the EDA Answers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Temperature Anomaly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Anomalies are spread evenly from −2 to +2; warm and cool records are balanced.</a:t>
            </a:r>
          </a:p>
        </p:txBody>
      </p:sp>
      <p:pic>
        <p:nvPicPr>
          <p:cNvPr id="11" name="Picture 10" descr="w4_c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058938"/>
            <a:ext cx="5629333" cy="3082123"/>
          </a:xfrm>
          <a:prstGeom prst="rect">
            <a:avLst/>
          </a:prstGeom>
        </p:spPr>
      </p:pic>
      <p:pic>
        <p:nvPicPr>
          <p:cNvPr id="12" name="Picture 11" descr="w4_c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33" y="5058938"/>
            <a:ext cx="5629333" cy="3082123"/>
          </a:xfrm>
          <a:prstGeom prst="rect">
            <a:avLst/>
          </a:prstGeom>
        </p:spPr>
      </p:pic>
      <p:pic>
        <p:nvPicPr>
          <p:cNvPr id="13" name="Picture 12" descr="w4_c17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8666" y="4862374"/>
            <a:ext cx="5629333" cy="347525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Trend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The yearly mean stays within about ±0.1 and both periods look the same: no warming trend.</a:t>
            </a:r>
          </a:p>
        </p:txBody>
      </p:sp>
      <p:pic>
        <p:nvPicPr>
          <p:cNvPr id="11" name="Picture 10" descr="w4_c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128" y="3650000"/>
            <a:ext cx="6910743" cy="2825000"/>
          </a:xfrm>
          <a:prstGeom prst="rect">
            <a:avLst/>
          </a:prstGeom>
        </p:spPr>
      </p:pic>
      <p:pic>
        <p:nvPicPr>
          <p:cNvPr id="12" name="Picture 11" descr="w4_c2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68" y="3650000"/>
            <a:ext cx="6694863" cy="2825000"/>
          </a:xfrm>
          <a:prstGeom prst="rect">
            <a:avLst/>
          </a:prstGeom>
        </p:spPr>
      </p:pic>
      <p:pic>
        <p:nvPicPr>
          <p:cNvPr id="13" name="Picture 12" descr="w4_c8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483" y="6725000"/>
            <a:ext cx="4576033" cy="2825000"/>
          </a:xfrm>
          <a:prstGeom prst="rect">
            <a:avLst/>
          </a:prstGeom>
        </p:spPr>
      </p:pic>
      <p:pic>
        <p:nvPicPr>
          <p:cNvPr id="14" name="Picture 13" descr="w4_c13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128" y="6725000"/>
            <a:ext cx="6910743" cy="2825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Across Countries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The highest country average is only 0.2, and every country has a similar number of records.</a:t>
            </a:r>
          </a:p>
        </p:txBody>
      </p:sp>
      <p:pic>
        <p:nvPicPr>
          <p:cNvPr id="11" name="Picture 10" descr="w4_c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3769516"/>
            <a:ext cx="8569000" cy="5660968"/>
          </a:xfrm>
          <a:prstGeom prst="rect">
            <a:avLst/>
          </a:prstGeom>
        </p:spPr>
      </p:pic>
      <p:pic>
        <p:nvPicPr>
          <p:cNvPr id="12" name="Picture 11" descr="w4_c3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000" y="4323005"/>
            <a:ext cx="8569000" cy="455398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What Moves With Temperature?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CO2 and average temperature show no link with the anomaly; CO2 and methane are not linked either.</a:t>
            </a:r>
          </a:p>
        </p:txBody>
      </p:sp>
      <p:pic>
        <p:nvPicPr>
          <p:cNvPr id="11" name="Picture 10" descr="w4_c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645" y="3650000"/>
            <a:ext cx="5159710" cy="2825000"/>
          </a:xfrm>
          <a:prstGeom prst="rect">
            <a:avLst/>
          </a:prstGeom>
        </p:spPr>
      </p:pic>
      <p:pic>
        <p:nvPicPr>
          <p:cNvPr id="12" name="Picture 11" descr="w4_c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534" y="3650000"/>
            <a:ext cx="4759931" cy="2825000"/>
          </a:xfrm>
          <a:prstGeom prst="rect">
            <a:avLst/>
          </a:prstGeom>
        </p:spPr>
      </p:pic>
      <p:pic>
        <p:nvPicPr>
          <p:cNvPr id="13" name="Picture 12" descr="w4_c18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455" y="6725000"/>
            <a:ext cx="2746089" cy="2825000"/>
          </a:xfrm>
          <a:prstGeom prst="rect">
            <a:avLst/>
          </a:prstGeom>
        </p:spPr>
      </p:pic>
      <p:pic>
        <p:nvPicPr>
          <p:cNvPr id="14" name="Picture 13" descr="w4_c23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5953" y="6725000"/>
            <a:ext cx="4755094" cy="2825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Other Indicators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Average temperature, renewable use, industrial activity and sea-level rise are each evenly spread.</a:t>
            </a:r>
          </a:p>
        </p:txBody>
      </p:sp>
      <p:pic>
        <p:nvPicPr>
          <p:cNvPr id="11" name="Picture 10" descr="w4_c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483" y="3650000"/>
            <a:ext cx="4576033" cy="2825000"/>
          </a:xfrm>
          <a:prstGeom prst="rect">
            <a:avLst/>
          </a:prstGeom>
        </p:spPr>
      </p:pic>
      <p:pic>
        <p:nvPicPr>
          <p:cNvPr id="12" name="Picture 11" descr="w4_c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645" y="3650000"/>
            <a:ext cx="5159710" cy="2825000"/>
          </a:xfrm>
          <a:prstGeom prst="rect">
            <a:avLst/>
          </a:prstGeom>
        </p:spPr>
      </p:pic>
      <p:pic>
        <p:nvPicPr>
          <p:cNvPr id="13" name="Picture 12" descr="w4_c3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34" y="6725000"/>
            <a:ext cx="4759931" cy="2825000"/>
          </a:xfrm>
          <a:prstGeom prst="rect">
            <a:avLst/>
          </a:prstGeom>
        </p:spPr>
      </p:pic>
      <p:pic>
        <p:nvPicPr>
          <p:cNvPr id="14" name="Picture 13" descr="w4_c25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9000" y="6747932"/>
            <a:ext cx="8569000" cy="27791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Energy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Renewable and fossil fuel use both average about 50, at every anomaly level.</a:t>
            </a:r>
          </a:p>
        </p:txBody>
      </p:sp>
      <p:pic>
        <p:nvPicPr>
          <p:cNvPr id="11" name="Picture 10" descr="w4_c1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221388"/>
            <a:ext cx="5629333" cy="2757224"/>
          </a:xfrm>
          <a:prstGeom prst="rect">
            <a:avLst/>
          </a:prstGeom>
        </p:spPr>
      </p:pic>
      <p:pic>
        <p:nvPicPr>
          <p:cNvPr id="12" name="Picture 11" descr="w4_c2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33" y="4636770"/>
            <a:ext cx="5629333" cy="3926459"/>
          </a:xfrm>
          <a:prstGeom prst="rect">
            <a:avLst/>
          </a:prstGeom>
        </p:spPr>
      </p:pic>
      <p:pic>
        <p:nvPicPr>
          <p:cNvPr id="13" name="Picture 12" descr="w4_c27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8666" y="5083611"/>
            <a:ext cx="5629333" cy="303277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Environment and Economy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Deforestation, biodiversity, population, GDP and CO2 show no relationships.</a:t>
            </a:r>
          </a:p>
        </p:txBody>
      </p:sp>
      <p:pic>
        <p:nvPicPr>
          <p:cNvPr id="11" name="Picture 10" descr="w4_c1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4929507"/>
            <a:ext cx="5629333" cy="3340986"/>
          </a:xfrm>
          <a:prstGeom prst="rect">
            <a:avLst/>
          </a:prstGeom>
        </p:spPr>
      </p:pic>
      <p:pic>
        <p:nvPicPr>
          <p:cNvPr id="12" name="Picture 11" descr="w4_c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33" y="4993516"/>
            <a:ext cx="5629333" cy="3212968"/>
          </a:xfrm>
          <a:prstGeom prst="rect">
            <a:avLst/>
          </a:prstGeom>
        </p:spPr>
      </p:pic>
      <p:pic>
        <p:nvPicPr>
          <p:cNvPr id="13" name="Picture 12" descr="w4_c14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8666" y="4929507"/>
            <a:ext cx="5629333" cy="334098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Indicators Over the Century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The indicator averages stay flat from 1900 to 2023.</a:t>
            </a:r>
          </a:p>
        </p:txBody>
      </p:sp>
      <p:pic>
        <p:nvPicPr>
          <p:cNvPr id="11" name="Picture 10" descr="w4_c1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211685"/>
            <a:ext cx="5629333" cy="2776630"/>
          </a:xfrm>
          <a:prstGeom prst="rect">
            <a:avLst/>
          </a:prstGeom>
        </p:spPr>
      </p:pic>
      <p:pic>
        <p:nvPicPr>
          <p:cNvPr id="12" name="Picture 11" descr="w4_c2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33" y="5211685"/>
            <a:ext cx="5629333" cy="2776630"/>
          </a:xfrm>
          <a:prstGeom prst="rect">
            <a:avLst/>
          </a:prstGeom>
        </p:spPr>
      </p:pic>
      <p:pic>
        <p:nvPicPr>
          <p:cNvPr id="13" name="Picture 12" descr="w4_c22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8666" y="4018395"/>
            <a:ext cx="5629333" cy="516320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Correlations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Every correlation is close to zero: the variables are independent of each other.</a:t>
            </a:r>
          </a:p>
        </p:txBody>
      </p:sp>
      <p:pic>
        <p:nvPicPr>
          <p:cNvPr id="11" name="Picture 10" descr="w4_c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74" y="3650000"/>
            <a:ext cx="7996052" cy="5900000"/>
          </a:xfrm>
          <a:prstGeom prst="rect">
            <a:avLst/>
          </a:prstGeom>
        </p:spPr>
      </p:pic>
      <p:pic>
        <p:nvPicPr>
          <p:cNvPr id="12" name="Picture 11" descr="w4_c2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4560" y="3650000"/>
            <a:ext cx="5697879" cy="59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EDA: All Pairs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Pair plot and parallel coordinates: no pair of variables forms a pattern.</a:t>
            </a:r>
          </a:p>
        </p:txBody>
      </p:sp>
      <p:pic>
        <p:nvPicPr>
          <p:cNvPr id="11" name="Picture 10" descr="w4_c1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84" y="3650000"/>
            <a:ext cx="5674632" cy="5900000"/>
          </a:xfrm>
          <a:prstGeom prst="rect">
            <a:avLst/>
          </a:prstGeom>
        </p:spPr>
      </p:pic>
      <p:pic>
        <p:nvPicPr>
          <p:cNvPr id="12" name="Picture 11" descr="w4_c2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000" y="4651287"/>
            <a:ext cx="8569000" cy="389742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we did and why: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Calculated mean, standard deviation, skewness and kurtosis for the 24 numeric features.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Checked skewness to decide whether any column needed a transformation to make it symmetric.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Applied StandardScaler: (value − mean) ÷ standard deviation, so every feature is on the same scale.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Applied MinMaxScaler: (value − min) ÷ (max − min), which puts every feature between 0 and 1.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Scaling is needed because the columns differ hugely: GDP is in trillions, the anomaly is between −2 and 2.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One-hot encoded Country, because countries are labels with no order.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Kept the original cleaned data and saved each transformed dataset separately.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6: Feature Engineering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the feature engineering produced: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Skewness is about 0 in every column, so the data is symmetric and no skewness correction was needed.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Kurtosis is about −1.2 in every column, which means flat distributions with no heavy tails.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After StandardScaler, each numeric feature has mean 0 and standard deviation 1.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After MinMaxScaler, each numeric feature runs from 0 to 1.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After one-hot encoding, 26 columns became 220 (25 other columns plus 195 country columns).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Year was left unscaled because it is a time label, not a measurement.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6: Results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6: Before vs After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Scaling changes the scale of each feature, not the shape of its distribution.</a:t>
            </a:r>
          </a:p>
        </p:txBody>
      </p:sp>
      <p:pic>
        <p:nvPicPr>
          <p:cNvPr id="11" name="Picture 10" descr="fix_w6_CO2_E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3672932"/>
            <a:ext cx="8569000" cy="2779135"/>
          </a:xfrm>
          <a:prstGeom prst="rect">
            <a:avLst/>
          </a:prstGeom>
        </p:spPr>
      </p:pic>
      <p:pic>
        <p:nvPicPr>
          <p:cNvPr id="12" name="Picture 11" descr="fix_w6_GD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000" y="3672932"/>
            <a:ext cx="8569000" cy="2779135"/>
          </a:xfrm>
          <a:prstGeom prst="rect">
            <a:avLst/>
          </a:prstGeom>
        </p:spPr>
      </p:pic>
      <p:pic>
        <p:nvPicPr>
          <p:cNvPr id="13" name="Picture 12" descr="fix_w6_Temperature_Anoma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00" y="6747932"/>
            <a:ext cx="8569000" cy="2779135"/>
          </a:xfrm>
          <a:prstGeom prst="rect">
            <a:avLst/>
          </a:prstGeom>
        </p:spPr>
      </p:pic>
      <p:pic>
        <p:nvPicPr>
          <p:cNvPr id="14" name="Picture 13" descr="fix_w6_Average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9000" y="6747932"/>
            <a:ext cx="8569000" cy="27791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we did: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Started from the standard-scaled dataset and took the 24 numeric features (Year and Country left out).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Feature selection: built the correlation matrix and looked for pairs with correlation of 0.90 or more.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Such pairs would carry the same information twice (multicollinearity), so one could be dropped.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PCA: combined the 24 features into new, uncorrelated components ordered by how much variance they capture.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Plotted the cumulative explained variance to find how many components keep at least 90%.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Plotted the first two components as a 2D scatter to look for groups in the data.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Saved the PCA-reduced dataset and the explained-variance table.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7: Feature Selection and PCA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7: Feature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No pair of features reaches a correlation of 0.90, so no feature was removed.</a:t>
            </a:r>
          </a:p>
        </p:txBody>
      </p:sp>
      <p:pic>
        <p:nvPicPr>
          <p:cNvPr id="11" name="Picture 10" descr="w7_c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516" y="3650000"/>
            <a:ext cx="6620968" cy="5900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7: PCA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22 of 24 components keep 91.88% of the variance; PC1 and PC2 together explain 8.57%.</a:t>
            </a:r>
          </a:p>
        </p:txBody>
      </p:sp>
      <p:pic>
        <p:nvPicPr>
          <p:cNvPr id="11" name="Picture 10" descr="w7_c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4492583"/>
            <a:ext cx="8569000" cy="4214833"/>
          </a:xfrm>
          <a:prstGeom prst="rect">
            <a:avLst/>
          </a:prstGeom>
        </p:spPr>
      </p:pic>
      <p:pic>
        <p:nvPicPr>
          <p:cNvPr id="12" name="Picture 11" descr="w7_c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000" y="3769516"/>
            <a:ext cx="8569000" cy="56609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Reading the results: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No feature pair is highly correlated, so every feature carries its own information.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Each principal component explains about 4% of the variance, roughly 1 part in 24.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That is why the cumulative variance line is straight, and 22 components are needed to reach 90%.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The 2D scatter is one round cloud: the records do not form separate groups.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Conclusion: the features are independent, so this dataset cannot be reduced much further.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Week 7: What PCA Told Us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the data shows: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The cleaned dataset is complete: 100,000 records, 0 missing values, 0 duplicates, 0 outliers.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Temperature anomalies are spread evenly from −2 to +2, with no trend from 1900 to 2023.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No country or period stands out with a clearly higher average anomaly.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The indicators show almost no correlation with each other.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Because the features are independent, PCA can reduce them only from 24 to 22.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Key Findings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What is left to do: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Week 8: build the interactive dashboard with Streamlit and Plotly, using at least five plot types.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Tell the story as context, conflict and resolution, based on what the data shows.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Week 9: final report (8 to 10 pages), final presentation and viva.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30E0C5F7F31408C24F79FEC3547A8" ma:contentTypeVersion="30" ma:contentTypeDescription="Create a new document." ma:contentTypeScope="" ma:versionID="43aeafdb121866d4c41a050b1c0f9fb4">
  <xsd:schema xmlns:xsd="http://www.w3.org/2001/XMLSchema" xmlns:xs="http://www.w3.org/2001/XMLSchema" xmlns:p="http://schemas.microsoft.com/office/2006/metadata/properties" xmlns:ns2="f8f6405e-9d26-4665-a572-60b6287e955e" xmlns:ns3="75f1d1de-8b6f-4690-bd7e-4a7619080584" targetNamespace="http://schemas.microsoft.com/office/2006/metadata/properties" ma:root="true" ma:fieldsID="a188b3ef85d914b1f0b5272ad37f5517" ns2:_="" ns3:_="">
    <xsd:import namespace="f8f6405e-9d26-4665-a572-60b6287e955e"/>
    <xsd:import namespace="75f1d1de-8b6f-4690-bd7e-4a761908058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f6405e-9d26-4665-a572-60b6287e955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1d1de-8b6f-4690-bd7e-4a7619080584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38ee401d-fe31-4260-9afb-a78595968dbb}" ma:internalName="TaxCatchAll" ma:showField="CatchAllData" ma:web="75f1d1de-8b6f-4690-bd7e-4a76190805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f6405e-9d26-4665-a572-60b6287e955e">
      <Terms xmlns="http://schemas.microsoft.com/office/infopath/2007/PartnerControls"/>
    </lcf76f155ced4ddcb4097134ff3c332f>
    <TaxCatchAll xmlns="75f1d1de-8b6f-4690-bd7e-4a7619080584" xsi:nil="true"/>
    <Self_Registration_Enabled xmlns="f8f6405e-9d26-4665-a572-60b6287e955e" xsi:nil="true"/>
    <Teachers xmlns="f8f6405e-9d26-4665-a572-60b6287e955e">
      <UserInfo>
        <DisplayName/>
        <AccountId xsi:nil="true"/>
        <AccountType/>
      </UserInfo>
    </Teachers>
    <Distribution_Groups xmlns="f8f6405e-9d26-4665-a572-60b6287e955e" xsi:nil="true"/>
    <Invited_Teachers xmlns="f8f6405e-9d26-4665-a572-60b6287e955e" xsi:nil="true"/>
    <IsNotebookLocked xmlns="f8f6405e-9d26-4665-a572-60b6287e955e" xsi:nil="true"/>
    <Is_Collaboration_Space_Locked xmlns="f8f6405e-9d26-4665-a572-60b6287e955e" xsi:nil="true"/>
    <Templates xmlns="f8f6405e-9d26-4665-a572-60b6287e955e" xsi:nil="true"/>
    <Has_Teacher_Only_SectionGroup xmlns="f8f6405e-9d26-4665-a572-60b6287e955e" xsi:nil="true"/>
    <FolderType xmlns="f8f6405e-9d26-4665-a572-60b6287e955e" xsi:nil="true"/>
    <CultureName xmlns="f8f6405e-9d26-4665-a572-60b6287e955e" xsi:nil="true"/>
    <LMS_Mappings xmlns="f8f6405e-9d26-4665-a572-60b6287e955e" xsi:nil="true"/>
    <NotebookType xmlns="f8f6405e-9d26-4665-a572-60b6287e955e" xsi:nil="true"/>
    <Teams_Channel_Section_Location xmlns="f8f6405e-9d26-4665-a572-60b6287e955e" xsi:nil="true"/>
    <Math_Settings xmlns="f8f6405e-9d26-4665-a572-60b6287e955e" xsi:nil="true"/>
    <Owner xmlns="f8f6405e-9d26-4665-a572-60b6287e955e">
      <UserInfo>
        <DisplayName/>
        <AccountId xsi:nil="true"/>
        <AccountType/>
      </UserInfo>
    </Owner>
    <Students xmlns="f8f6405e-9d26-4665-a572-60b6287e955e">
      <UserInfo>
        <DisplayName/>
        <AccountId xsi:nil="true"/>
        <AccountType/>
      </UserInfo>
    </Students>
    <Student_Groups xmlns="f8f6405e-9d26-4665-a572-60b6287e955e">
      <UserInfo>
        <DisplayName/>
        <AccountId xsi:nil="true"/>
        <AccountType/>
      </UserInfo>
    </Student_Groups>
    <AppVersion xmlns="f8f6405e-9d26-4665-a572-60b6287e955e" xsi:nil="true"/>
    <TeamsChannelId xmlns="f8f6405e-9d26-4665-a572-60b6287e955e" xsi:nil="true"/>
    <Invited_Students xmlns="f8f6405e-9d26-4665-a572-60b6287e955e" xsi:nil="true"/>
    <DefaultSectionNames xmlns="f8f6405e-9d26-4665-a572-60b6287e955e" xsi:nil="true"/>
  </documentManagement>
</p:properties>
</file>

<file path=customXml/itemProps1.xml><?xml version="1.0" encoding="utf-8"?>
<ds:datastoreItem xmlns:ds="http://schemas.openxmlformats.org/officeDocument/2006/customXml" ds:itemID="{933E3D7C-5C3D-4B60-9674-3050C6F34FEA}">
  <ds:schemaRefs/>
</ds:datastoreItem>
</file>

<file path=customXml/itemProps2.xml><?xml version="1.0" encoding="utf-8"?>
<ds:datastoreItem xmlns:ds="http://schemas.openxmlformats.org/officeDocument/2006/customXml" ds:itemID="{D0FDA871-35C3-49FC-BE2F-8D9ECBCC2D3E}">
  <ds:schemaRefs/>
</ds:datastoreItem>
</file>

<file path=customXml/itemProps3.xml><?xml version="1.0" encoding="utf-8"?>
<ds:datastoreItem xmlns:ds="http://schemas.openxmlformats.org/officeDocument/2006/customXml" ds:itemID="{5578F222-1B32-4B85-AB90-876A769BC14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1191</Words>
  <Application>Microsoft Office PowerPoint</Application>
  <PresentationFormat>Custom</PresentationFormat>
  <Paragraphs>134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Times New Roman Bold</vt:lpstr>
      <vt:lpstr>Poppins</vt:lpstr>
      <vt:lpstr>Times New Roman</vt:lpstr>
      <vt:lpstr>Poppins Bold Italics</vt:lpstr>
      <vt:lpstr>Arial</vt:lpstr>
      <vt:lpstr>Poppins Bold</vt:lpstr>
      <vt:lpstr>Poppins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Visualization 24ADI204</dc:title>
  <dc:creator>Jayavanadhi V</dc:creator>
  <cp:lastModifiedBy>Jayavanadhi V</cp:lastModifiedBy>
  <cp:revision>102</cp:revision>
  <dcterms:created xsi:type="dcterms:W3CDTF">2006-08-16T00:00:00Z</dcterms:created>
  <dcterms:modified xsi:type="dcterms:W3CDTF">2026-10-13T09:46:01Z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0x0101004F230E0C5F7F31408C24F79FEC3547A8</vt:lpwstr>
  </property>
  <property fmtid="{D5CDD505-2E9C-101B-9397-08002B2CF9AE}" pid="3" name="MediaServiceImageTags">
    <vt:lpwstr/>
  </property>
  <property fmtid="{D5CDD505-2E9C-101B-9397-08002B2CF9AE}" pid="4" name="ICV">
    <vt:lpwstr>CE5637E3D5A449E3A139971C7E134D54_12</vt:lpwstr>
  </property>
  <property fmtid="{D5CDD505-2E9C-101B-9397-08002B2CF9AE}" pid="5" name="KSOProductBuildVer">
    <vt:lpwstr>1036-12.1.0.28485</vt:lpwstr>
  </property>
</Properties>
</file>